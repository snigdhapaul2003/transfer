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4" r:id="rId3"/>
    <p:sldId id="265" r:id="rId4"/>
    <p:sldId id="259" r:id="rId5"/>
    <p:sldId id="260" r:id="rId6"/>
    <p:sldId id="261" r:id="rId7"/>
    <p:sldId id="262" r:id="rId8"/>
    <p:sldId id="263" r:id="rId9"/>
    <p:sldId id="266" r:id="rId10"/>
    <p:sldId id="267" r:id="rId11"/>
    <p:sldId id="268" r:id="rId12"/>
    <p:sldId id="269" r:id="rId13"/>
    <p:sldId id="270" r:id="rId14"/>
    <p:sldId id="272" r:id="rId15"/>
    <p:sldId id="271" r:id="rId16"/>
    <p:sldId id="273"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500D3-164D-F504-09FE-93E82C312C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B338B36-8FFC-2C73-A52C-ADDB573236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8F9F54-1DC7-EEB4-A321-ADF1BCB74585}"/>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5" name="Footer Placeholder 4">
            <a:extLst>
              <a:ext uri="{FF2B5EF4-FFF2-40B4-BE49-F238E27FC236}">
                <a16:creationId xmlns:a16="http://schemas.microsoft.com/office/drawing/2014/main" id="{7212C18F-D948-3F74-54AD-A4A34620A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849359-7AA5-D09D-4176-904660F7BEE2}"/>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3907208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D6F2F-810E-9343-8284-5E1C3F5A2D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8CF7B7-B2E9-A6C3-5E15-08EB7379D6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866E8-D837-3A19-E215-4C03BB4244B9}"/>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5" name="Footer Placeholder 4">
            <a:extLst>
              <a:ext uri="{FF2B5EF4-FFF2-40B4-BE49-F238E27FC236}">
                <a16:creationId xmlns:a16="http://schemas.microsoft.com/office/drawing/2014/main" id="{F8007921-B7D0-E172-1C1B-ACD7305B48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6150F6-53EE-9B44-91A6-4E97B16F6DDF}"/>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20873514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038DE-1295-38A9-42C8-950FA957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463F1BC-BAA8-67A5-CDF0-53675E2997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0FC7F3-516F-05E0-0BC1-62CFF7E2F8C3}"/>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5" name="Footer Placeholder 4">
            <a:extLst>
              <a:ext uri="{FF2B5EF4-FFF2-40B4-BE49-F238E27FC236}">
                <a16:creationId xmlns:a16="http://schemas.microsoft.com/office/drawing/2014/main" id="{4B50D956-EF2E-884E-8BC2-70448223A6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372627-22BC-9809-960F-799061C8C827}"/>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754127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AA80B-204F-D49E-C4CA-543F4E753B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47CDD9-A9C9-3090-AB75-9BE253229A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02DA6D6-6FCE-76DA-D100-B64CA1A91D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6BF572-4E3E-B155-A510-711358D82260}"/>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6" name="Footer Placeholder 5">
            <a:extLst>
              <a:ext uri="{FF2B5EF4-FFF2-40B4-BE49-F238E27FC236}">
                <a16:creationId xmlns:a16="http://schemas.microsoft.com/office/drawing/2014/main" id="{72F703B0-22E2-526E-F783-296736DDA7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E9DD26-1B23-C622-D29D-2F043E4E3F4F}"/>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2960037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A6FC7-EC16-BDE9-59C3-7DCF7D84D1E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9EFEB8-3B47-ADC3-CE14-FD32F7825D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68DF0D-F355-B36F-B430-C484F51AF7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46FE0E-DB13-3495-9931-5833F1D8C2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91FC7F-A193-A430-06A2-ED99369BA2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685E0F-5D18-ACCC-ACF8-863B82DFBBBE}"/>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8" name="Footer Placeholder 7">
            <a:extLst>
              <a:ext uri="{FF2B5EF4-FFF2-40B4-BE49-F238E27FC236}">
                <a16:creationId xmlns:a16="http://schemas.microsoft.com/office/drawing/2014/main" id="{4437D06F-98DB-DFE8-0D90-41543EF002C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F797A0-2293-36AA-ECC5-A619D5630F11}"/>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9399103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19E49-82CB-5F3D-E52F-088273115D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493B68B-34D8-1AC7-C74F-097C0DADFB2A}"/>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4" name="Footer Placeholder 3">
            <a:extLst>
              <a:ext uri="{FF2B5EF4-FFF2-40B4-BE49-F238E27FC236}">
                <a16:creationId xmlns:a16="http://schemas.microsoft.com/office/drawing/2014/main" id="{85743A80-95C9-53D4-5728-4E5F5B7371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7F1E2E-9FCF-9DDA-70D8-2A6F030387A6}"/>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459037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96B50A-0D58-6DB9-4C1B-795F497FA6CD}"/>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3" name="Footer Placeholder 2">
            <a:extLst>
              <a:ext uri="{FF2B5EF4-FFF2-40B4-BE49-F238E27FC236}">
                <a16:creationId xmlns:a16="http://schemas.microsoft.com/office/drawing/2014/main" id="{3EAC9C28-9E73-D8E4-D42D-2DCB87589A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45760FB-A4C7-C687-F8D9-3F3AD5852FF3}"/>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2311783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1B000-07FC-21FB-A4FA-1D9EF69370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46A4C9-F8C0-F14A-6FCE-A85FF8AAC5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36C911-B4E1-0676-3264-D2E09641BB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35EE21-2B94-386C-E80F-D44821697365}"/>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6" name="Footer Placeholder 5">
            <a:extLst>
              <a:ext uri="{FF2B5EF4-FFF2-40B4-BE49-F238E27FC236}">
                <a16:creationId xmlns:a16="http://schemas.microsoft.com/office/drawing/2014/main" id="{3A6C26DA-7045-9621-FA2C-8608A636E1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A42724-443B-117B-CE99-F00E2D1FA137}"/>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282753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46DFC-A6A7-4028-645D-7CA38BCCE4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859FC64-0C87-8C4D-ED91-5563A549D7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E8AD7F8-D2BB-319F-2D99-6C0F25A06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0D5DB7-B4AF-AC3C-5790-7E510569DDDC}"/>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6" name="Footer Placeholder 5">
            <a:extLst>
              <a:ext uri="{FF2B5EF4-FFF2-40B4-BE49-F238E27FC236}">
                <a16:creationId xmlns:a16="http://schemas.microsoft.com/office/drawing/2014/main" id="{BDF4F64B-C9A2-DADA-C82B-9B4DD1B2F0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CADCE4-354B-2487-C039-5DDBDDFA8D4E}"/>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3014569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43EBA-31C8-B492-527A-67476292139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45FB23-4D70-D9C5-9EF0-BB63E824CE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E877C-CF4B-FBBC-9D1D-2EAB97EEC39D}"/>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5" name="Footer Placeholder 4">
            <a:extLst>
              <a:ext uri="{FF2B5EF4-FFF2-40B4-BE49-F238E27FC236}">
                <a16:creationId xmlns:a16="http://schemas.microsoft.com/office/drawing/2014/main" id="{07E75E32-7420-E0F6-DD6B-759AF19537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7128E-DB1E-B19E-4D98-EF15A0597669}"/>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37176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C7973-AD4A-0F2E-6887-5150729C308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041BA9-4879-D393-91A9-76A1E7C70B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8507D-F17C-3BB2-F23C-49609FF32D08}"/>
              </a:ext>
            </a:extLst>
          </p:cNvPr>
          <p:cNvSpPr>
            <a:spLocks noGrp="1"/>
          </p:cNvSpPr>
          <p:nvPr>
            <p:ph type="dt" sz="half" idx="10"/>
          </p:nvPr>
        </p:nvSpPr>
        <p:spPr/>
        <p:txBody>
          <a:bodyPr/>
          <a:lstStyle/>
          <a:p>
            <a:fld id="{ACA8ECE1-4E3E-4924-B4DA-647ABC0036ED}" type="datetimeFigureOut">
              <a:rPr lang="en-US" smtClean="0"/>
              <a:t>10/14/2026</a:t>
            </a:fld>
            <a:endParaRPr lang="en-US"/>
          </a:p>
        </p:txBody>
      </p:sp>
      <p:sp>
        <p:nvSpPr>
          <p:cNvPr id="5" name="Footer Placeholder 4">
            <a:extLst>
              <a:ext uri="{FF2B5EF4-FFF2-40B4-BE49-F238E27FC236}">
                <a16:creationId xmlns:a16="http://schemas.microsoft.com/office/drawing/2014/main" id="{57BA2277-3383-5C61-84A3-88F5E3C851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CD224B-8939-FBD3-5664-601EAE715A08}"/>
              </a:ext>
            </a:extLst>
          </p:cNvPr>
          <p:cNvSpPr>
            <a:spLocks noGrp="1"/>
          </p:cNvSpPr>
          <p:nvPr>
            <p:ph type="sldNum" sz="quarter" idx="12"/>
          </p:nvPr>
        </p:nvSpPr>
        <p:spPr/>
        <p:txBody>
          <a:bodyPr/>
          <a:lstStyle/>
          <a:p>
            <a:fld id="{0401DAD0-A181-4642-BC64-B7861C7F511A}" type="slidenum">
              <a:rPr lang="en-US" smtClean="0"/>
              <a:t>‹#›</a:t>
            </a:fld>
            <a:endParaRPr lang="en-US"/>
          </a:p>
        </p:txBody>
      </p:sp>
    </p:spTree>
    <p:extLst>
      <p:ext uri="{BB962C8B-B14F-4D97-AF65-F5344CB8AC3E}">
        <p14:creationId xmlns:p14="http://schemas.microsoft.com/office/powerpoint/2010/main" val="958158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35417E-EDD6-F13E-C2D4-6CC78C23C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1D9A37-007F-2B25-648F-1922A70C0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911F00-6017-9FA1-09E3-30813295A7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A8ECE1-4E3E-4924-B4DA-647ABC0036ED}" type="datetimeFigureOut">
              <a:rPr lang="en-US" smtClean="0"/>
              <a:t>10/14/2026</a:t>
            </a:fld>
            <a:endParaRPr lang="en-US"/>
          </a:p>
        </p:txBody>
      </p:sp>
      <p:sp>
        <p:nvSpPr>
          <p:cNvPr id="5" name="Footer Placeholder 4">
            <a:extLst>
              <a:ext uri="{FF2B5EF4-FFF2-40B4-BE49-F238E27FC236}">
                <a16:creationId xmlns:a16="http://schemas.microsoft.com/office/drawing/2014/main" id="{082F1DBC-E60C-4F87-28E1-0B5BE47636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C28E8D-4A89-1959-220A-9774378770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01DAD0-A181-4642-BC64-B7861C7F511A}" type="slidenum">
              <a:rPr lang="en-US" smtClean="0"/>
              <a:t>‹#›</a:t>
            </a:fld>
            <a:endParaRPr lang="en-US"/>
          </a:p>
        </p:txBody>
      </p:sp>
    </p:spTree>
    <p:extLst>
      <p:ext uri="{BB962C8B-B14F-4D97-AF65-F5344CB8AC3E}">
        <p14:creationId xmlns:p14="http://schemas.microsoft.com/office/powerpoint/2010/main" val="3112919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ink.springer.com/content/pdf/10.1007/s10994-021-06079-3.pdf" TargetMode="External"/><Relationship Id="rId7" Type="http://schemas.openxmlformats.org/officeDocument/2006/relationships/hyperlink" Target="https://link.springer.com/article/10.1007/s10994-021-06079-3" TargetMode="External"/><Relationship Id="rId2" Type="http://schemas.openxmlformats.org/officeDocument/2006/relationships/hyperlink" Target="https://arxiv.org/html/2502.09198v1" TargetMode="External"/><Relationship Id="rId1" Type="http://schemas.openxmlformats.org/officeDocument/2006/relationships/slideLayout" Target="../slideLayouts/slideLayout2.xml"/><Relationship Id="rId6" Type="http://schemas.openxmlformats.org/officeDocument/2006/relationships/hyperlink" Target="https://www.acml-conf.org/2021/conference/accepted-papers/41/" TargetMode="External"/><Relationship Id="rId5" Type="http://schemas.openxmlformats.org/officeDocument/2006/relationships/hyperlink" Target="https://arxiv.org/abs/2502.09198" TargetMode="External"/><Relationship Id="rId4" Type="http://schemas.openxmlformats.org/officeDocument/2006/relationships/hyperlink" Target="https://proceedings.mlr.press/v258/hoang25a.html" TargetMode="External"/></Relationships>
</file>

<file path=ppt/slides/_rels/slide8.xml.rels><?xml version="1.0" encoding="UTF-8" standalone="yes"?>
<Relationships xmlns="http://schemas.openxmlformats.org/package/2006/relationships"><Relationship Id="rId8" Type="http://schemas.openxmlformats.org/officeDocument/2006/relationships/hyperlink" Target="https://arxiv.org/abs/2502.09198" TargetMode="External"/><Relationship Id="rId3" Type="http://schemas.openxmlformats.org/officeDocument/2006/relationships/hyperlink" Target="https://arxiv.org/abs/2603.11199" TargetMode="External"/><Relationship Id="rId7" Type="http://schemas.openxmlformats.org/officeDocument/2006/relationships/hyperlink" Target="https://www.acml-conf.org/2021/conference/accepted-papers/41/" TargetMode="External"/><Relationship Id="rId2" Type="http://schemas.openxmlformats.org/officeDocument/2006/relationships/hyperlink" Target="https://arxiv.org/html/2312.03212v2" TargetMode="External"/><Relationship Id="rId1" Type="http://schemas.openxmlformats.org/officeDocument/2006/relationships/slideLayout" Target="../slideLayouts/slideLayout2.xml"/><Relationship Id="rId6" Type="http://schemas.openxmlformats.org/officeDocument/2006/relationships/hyperlink" Target="https://proceedings.mlr.press/v258/hoang25a.html" TargetMode="External"/><Relationship Id="rId5" Type="http://schemas.openxmlformats.org/officeDocument/2006/relationships/hyperlink" Target="https://link.springer.com/content/pdf/10.1007/s10994-021-06079-3.pdf" TargetMode="External"/><Relationship Id="rId10" Type="http://schemas.openxmlformats.org/officeDocument/2006/relationships/hyperlink" Target="https://papers.nips.cc/paper_files/paper/2024/hash/fe0007fcfd707673660ec0f9014bc48e-Abstract-Datasets_and_Benchmarks_Track.html" TargetMode="External"/><Relationship Id="rId4" Type="http://schemas.openxmlformats.org/officeDocument/2006/relationships/hyperlink" Target="https://arxiv.org/html/2502.09198v1" TargetMode="External"/><Relationship Id="rId9" Type="http://schemas.openxmlformats.org/officeDocument/2006/relationships/hyperlink" Target="https://link.springer.com/article/10.1007/s10994-021-06079-3"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E54C292-E9C3-1C52-AD84-051BE4CB36F2}"/>
              </a:ext>
            </a:extLst>
          </p:cNvPr>
          <p:cNvPicPr>
            <a:picLocks noChangeAspect="1"/>
          </p:cNvPicPr>
          <p:nvPr/>
        </p:nvPicPr>
        <p:blipFill>
          <a:blip r:embed="rId2"/>
          <a:stretch>
            <a:fillRect/>
          </a:stretch>
        </p:blipFill>
        <p:spPr>
          <a:xfrm>
            <a:off x="1351026" y="265684"/>
            <a:ext cx="9489948" cy="6326632"/>
          </a:xfrm>
          <a:prstGeom prst="rect">
            <a:avLst/>
          </a:prstGeom>
        </p:spPr>
      </p:pic>
    </p:spTree>
    <p:extLst>
      <p:ext uri="{BB962C8B-B14F-4D97-AF65-F5344CB8AC3E}">
        <p14:creationId xmlns:p14="http://schemas.microsoft.com/office/powerpoint/2010/main" val="3208591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E7B92-6E46-4B9E-3B96-FFFBA65A9E5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060001-BF93-AE37-FFAC-E3F8B86ACBFF}"/>
              </a:ext>
            </a:extLst>
          </p:cNvPr>
          <p:cNvSpPr txBox="1"/>
          <p:nvPr/>
        </p:nvSpPr>
        <p:spPr>
          <a:xfrm>
            <a:off x="267582" y="128096"/>
            <a:ext cx="11484864" cy="6601807"/>
          </a:xfrm>
          <a:prstGeom prst="rect">
            <a:avLst/>
          </a:prstGeom>
          <a:noFill/>
        </p:spPr>
        <p:txBody>
          <a:bodyPr wrap="square" rtlCol="0">
            <a:spAutoFit/>
          </a:bodyPr>
          <a:lstStyle/>
          <a:p>
            <a:r>
              <a:rPr lang="en-US" sz="1000" b="1" dirty="0"/>
              <a:t>Query: Write a summary about 'High-dimensional and partially specified Bayesian Optimization’. </a:t>
            </a:r>
          </a:p>
          <a:p>
            <a:endParaRPr lang="en-US" sz="600" b="1" dirty="0"/>
          </a:p>
          <a:p>
            <a:r>
              <a:rPr lang="en-US" sz="1000" dirty="0"/>
              <a:t>Certainly! Here’s a concise summary of **High Dimensional and Partially Specified Bayesian Optimization**:</a:t>
            </a:r>
          </a:p>
          <a:p>
            <a:endParaRPr lang="en-US" sz="1000" dirty="0"/>
          </a:p>
          <a:p>
            <a:r>
              <a:rPr lang="en-US" sz="1000" dirty="0"/>
              <a:t>### High Dimensional Bayesian Optimization</a:t>
            </a:r>
          </a:p>
          <a:p>
            <a:r>
              <a:rPr lang="en-US" sz="1000" dirty="0"/>
              <a:t>**Bayesian Optimization (BO)** is a popular technique for efficiently finding the global optimum of expensive, black-box, and noisy functions. Traditional BO methods, such as Gaussian Process (GP)-based approaches, excel in low-dimensional settings (e.g., optimizing a single hyperparameter). However, when the search space becomes **high dimensional** (e.g., tuning multiple hyperparameters simultaneously or optimizing over many features), several challenges arise:</a:t>
            </a:r>
            <a:br>
              <a:rPr lang="en-US" sz="1000" dirty="0"/>
            </a:br>
            <a:endParaRPr lang="en-US" sz="1000" dirty="0"/>
          </a:p>
          <a:p>
            <a:r>
              <a:rPr lang="en-US" sz="1000" dirty="0"/>
              <a:t>- **Curse of Dimensionality:** The number of required function evaluations grows exponentially with dimensionality, making brute-force or random search inefficient.</a:t>
            </a:r>
          </a:p>
          <a:p>
            <a:r>
              <a:rPr lang="en-US" sz="1000" dirty="0"/>
              <a:t>- **GP Limitations:** Standard GPs struggle to generalize well in high dimensions due to increased risk of overfitting and poor posterior uncertainty estimation.</a:t>
            </a:r>
          </a:p>
          <a:p>
            <a:r>
              <a:rPr lang="en-US" sz="1000" dirty="0"/>
              <a:t>- **Dimensionality Reduction:** To tackle this, dimensionality reduction techniques (e.g., random projections, feature selection, or using low-rank GPs) are often employed within BO frameworks. Alternatively, structured models (e.g., Factorized GPs) or advanced kernel designs are used to capture dependencies in high-dimensional spaces.</a:t>
            </a:r>
            <a:br>
              <a:rPr lang="en-US" sz="1000" dirty="0"/>
            </a:br>
            <a:endParaRPr lang="en-US" sz="1000" dirty="0"/>
          </a:p>
          <a:p>
            <a:r>
              <a:rPr lang="en-US" sz="1000" dirty="0"/>
              <a:t>**High dimensional BO methods** aim to balance exploration and exploitation in a large number of variables, often leveraging advanced modeling strategies or algorithmic adaptations (e.g., multi-task learning, deep BO, or adaptive sampling) to remain efficient and accurate.</a:t>
            </a:r>
            <a:br>
              <a:rPr lang="en-US" sz="1000" dirty="0"/>
            </a:br>
            <a:endParaRPr lang="en-US" sz="1000" dirty="0"/>
          </a:p>
          <a:p>
            <a:r>
              <a:rPr lang="en-US" sz="1000" dirty="0"/>
              <a:t>### Partially Specified Bayesian Optimization</a:t>
            </a:r>
          </a:p>
          <a:p>
            <a:r>
              <a:rPr lang="en-US" sz="1000" dirty="0"/>
              <a:t>**Partially specified Bayesian Optimization** refers to BO frameworks where the statistical model is not fully specified upfront. Instead of specifying every parameter of the underlying model (such as the exact form of the kernel or prior in a GP), the optimization algorithm **learns or infers parts of the model as it proceeds**.</a:t>
            </a:r>
          </a:p>
          <a:p>
            <a:endParaRPr lang="en-US" sz="1000" dirty="0"/>
          </a:p>
          <a:p>
            <a:r>
              <a:rPr lang="en-US" sz="1000" dirty="0"/>
              <a:t>#### Key Aspects:</a:t>
            </a:r>
          </a:p>
          <a:p>
            <a:r>
              <a:rPr lang="en-US" sz="1000" dirty="0"/>
              <a:t>- **Model Parameter Inference:** Instead of pre-defining the kernel or covariance function (e.g., choosing a specific Gaussian process kernel), some parameters may be treated as unknown and inferred from the observed data during optimization. This can improve flexibility and adaptability to the true function structure.</a:t>
            </a:r>
          </a:p>
          <a:p>
            <a:r>
              <a:rPr lang="en-US" sz="1000" dirty="0"/>
              <a:t>- **Online Model Building:** The algorithm may start with a rough or partially informed model (e.g., a simple GP with limited hyperparameters known), and update the model structure (or its parameters) as more evaluations are performed.</a:t>
            </a:r>
          </a:p>
          <a:p>
            <a:r>
              <a:rPr lang="en-US" sz="1000" dirty="0"/>
              <a:t>- **Mixed-Integer or Structured Models:** In some cases, the optimization problem can be cast in a way where some aspects are discrete or have a structured form, and the BO framework dynamically discovers or fills in these details.</a:t>
            </a:r>
          </a:p>
          <a:p>
            <a:r>
              <a:rPr lang="en-US" sz="1000" dirty="0"/>
              <a:t>- **Benefits:** This approach can reduce the need for prior domain knowledge, allow for discovery of appropriate model structures, and adapt to changing or unknown properties of the objective function.</a:t>
            </a:r>
            <a:br>
              <a:rPr lang="en-US" sz="1000" dirty="0"/>
            </a:br>
            <a:endParaRPr lang="en-US" sz="1000" dirty="0"/>
          </a:p>
          <a:p>
            <a:r>
              <a:rPr lang="en-US" sz="1000" dirty="0"/>
              <a:t>#### Examples</a:t>
            </a:r>
          </a:p>
          <a:p>
            <a:r>
              <a:rPr lang="en-US" sz="1000" dirty="0"/>
              <a:t>- **Active Learning with GPs:** Learning the kernel or other parameters of the GP from a small set of initial data points.</a:t>
            </a:r>
          </a:p>
          <a:p>
            <a:r>
              <a:rPr lang="en-US" sz="1000" dirty="0"/>
              <a:t>- **Transfer or Semi-Supervised BO:** Using limited or partial prior information and refining the model as more data become available.</a:t>
            </a:r>
          </a:p>
          <a:p>
            <a:r>
              <a:rPr lang="en-US" sz="1000" dirty="0"/>
              <a:t>- **Deep BO:** Where the representation of the function is learned (e.g., via neural networks), and some layers or components are initially unspecified or learned in an incremental way.</a:t>
            </a:r>
            <a:br>
              <a:rPr lang="en-US" sz="1000" dirty="0"/>
            </a:br>
            <a:endParaRPr lang="en-US" sz="1000" dirty="0"/>
          </a:p>
          <a:p>
            <a:r>
              <a:rPr lang="en-US" sz="1000" dirty="0"/>
              <a:t>### In Summary</a:t>
            </a:r>
          </a:p>
          <a:p>
            <a:r>
              <a:rPr lang="en-US" sz="1000" dirty="0"/>
              <a:t>**High dimensional Bayesian optimization** addresses the challenges of optimizing in many variables by leveraging advanced modeling techniques, dimensionality reduction, and algorithmic adaptations to maintain efficiency and accuracy. </a:t>
            </a:r>
            <a:br>
              <a:rPr lang="en-US" sz="1000" dirty="0"/>
            </a:br>
            <a:endParaRPr lang="en-US" sz="1000" dirty="0"/>
          </a:p>
          <a:p>
            <a:r>
              <a:rPr lang="en-US" sz="1000" dirty="0"/>
              <a:t>**Partially specified Bayesian optimization** relaxes the requirement for a fully defined model at the outset, allowing the optimization process to infer or update parts of the model dynamically. This flexibility is valuable when the model structure is unknown or when computational resources are limited. Together, these approaches are important for tackling complex, real-world optimization problems where dimensionality and model uncertainty are significant concerns.</a:t>
            </a:r>
          </a:p>
          <a:p>
            <a:endParaRPr lang="en-US" sz="600" b="1" dirty="0"/>
          </a:p>
        </p:txBody>
      </p:sp>
    </p:spTree>
    <p:extLst>
      <p:ext uri="{BB962C8B-B14F-4D97-AF65-F5344CB8AC3E}">
        <p14:creationId xmlns:p14="http://schemas.microsoft.com/office/powerpoint/2010/main" val="2630205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F3CF3-1CB1-177F-4A6D-857744B5808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5AEC74-F1B4-D76B-6D80-A4780DD05C52}"/>
              </a:ext>
            </a:extLst>
          </p:cNvPr>
          <p:cNvSpPr txBox="1"/>
          <p:nvPr/>
        </p:nvSpPr>
        <p:spPr>
          <a:xfrm>
            <a:off x="267582" y="128096"/>
            <a:ext cx="11484864" cy="184666"/>
          </a:xfrm>
          <a:prstGeom prst="rect">
            <a:avLst/>
          </a:prstGeom>
          <a:noFill/>
        </p:spPr>
        <p:txBody>
          <a:bodyPr wrap="square" rtlCol="0">
            <a:spAutoFit/>
          </a:bodyPr>
          <a:lstStyle/>
          <a:p>
            <a:endParaRPr lang="en-US" sz="600" b="1" dirty="0"/>
          </a:p>
        </p:txBody>
      </p:sp>
      <p:sp>
        <p:nvSpPr>
          <p:cNvPr id="3" name="TextBox 2">
            <a:extLst>
              <a:ext uri="{FF2B5EF4-FFF2-40B4-BE49-F238E27FC236}">
                <a16:creationId xmlns:a16="http://schemas.microsoft.com/office/drawing/2014/main" id="{A03BE6B7-9C3D-06BD-1596-C44DE5F842DF}"/>
              </a:ext>
            </a:extLst>
          </p:cNvPr>
          <p:cNvSpPr txBox="1"/>
          <p:nvPr/>
        </p:nvSpPr>
        <p:spPr>
          <a:xfrm>
            <a:off x="332391" y="174263"/>
            <a:ext cx="11498982" cy="6555641"/>
          </a:xfrm>
          <a:prstGeom prst="rect">
            <a:avLst/>
          </a:prstGeom>
          <a:noFill/>
        </p:spPr>
        <p:txBody>
          <a:bodyPr wrap="square" rtlCol="0">
            <a:spAutoFit/>
          </a:bodyPr>
          <a:lstStyle/>
          <a:p>
            <a:r>
              <a:rPr lang="en-US" sz="1600" b="1" dirty="0"/>
              <a:t>Forced Questions</a:t>
            </a:r>
          </a:p>
          <a:p>
            <a:endParaRPr lang="en-US" sz="1200" dirty="0"/>
          </a:p>
          <a:p>
            <a:endParaRPr lang="en-US" sz="1200" dirty="0"/>
          </a:p>
          <a:p>
            <a:r>
              <a:rPr lang="en-US" sz="1200" dirty="0"/>
              <a:t>Choose the correct option (A–D): In the setting where only a subset of variables can be specified and the remainder are randomly drawn, for popular kernels, what is optimized and what guarantees hold for posterior-sampling algorithms that use GP samples and UCB-style bonuses for empirical input-distribution estimates under an independence assumption when the input distribution may be known or unknown? [A] The marginal expectation is optimized and cumulative regret is sublinear but grows exponentially with dimension. [B] The conditional expectation over unspecified variables is optimized and Bayesian cumulative regret is sublinear for popular kernels without exponential dependence on dimensionality. [C] The worst-case value over unspecified variables is optimized and regret is constant regardless of dimension. [D] A deterministic objective is optimized and regret bounds require all variables to be specified.</a:t>
            </a:r>
          </a:p>
          <a:p>
            <a:br>
              <a:rPr lang="en-US" sz="1200" dirty="0"/>
            </a:br>
            <a:br>
              <a:rPr lang="en-US" sz="1200" dirty="0"/>
            </a:br>
            <a:br>
              <a:rPr lang="en-US" sz="1200" dirty="0"/>
            </a:br>
            <a:endParaRPr lang="en-US" sz="1200" dirty="0"/>
          </a:p>
          <a:p>
            <a:r>
              <a:rPr lang="en-US" sz="1200" dirty="0"/>
              <a:t>Bayesian optimization with partially specified queries optimizes the conditional expectation over unspecified variables when only a subset of inputs is specified and the rest are randomly drawn, and posterior-sampling algorithms for known and unknown input distributions that combine GP samples with UCB-style bonuses for empirical distribution estimates under an independence assumption achieve sublinear Bayesian cumulative regret for popular kernels without exponential dependence on dimensionality. - True/False.</a:t>
            </a:r>
          </a:p>
          <a:p>
            <a:br>
              <a:rPr lang="en-US" sz="1200" dirty="0"/>
            </a:br>
            <a:br>
              <a:rPr lang="en-US" sz="1200" dirty="0"/>
            </a:br>
            <a:br>
              <a:rPr lang="en-US" sz="1200" dirty="0"/>
            </a:br>
            <a:endParaRPr lang="en-US" sz="1200" dirty="0"/>
          </a:p>
          <a:p>
            <a:r>
              <a:rPr lang="en-US" sz="1200" dirty="0"/>
              <a:t>Bayesian optimization with partially specified queries formalizes optimization where a subset of input variables is specified and the rest are randomly drawn, optimizing the _________(conditional/unconditional) expectation over unspecified variables, and posterior-sampling algorithms for known and unknown input distributions that incorporate GP samples and UCB-style bonuses for empirical distribution estimates under an independence assumption admit sublinear Bayesian cumulative regret for popular kernels without exponential dimensional dependence.</a:t>
            </a:r>
          </a:p>
          <a:p>
            <a:br>
              <a:rPr lang="en-US" sz="1200" dirty="0"/>
            </a:br>
            <a:br>
              <a:rPr lang="en-US" sz="1200" dirty="0"/>
            </a:br>
            <a:br>
              <a:rPr lang="en-US" sz="1200" dirty="0"/>
            </a:br>
            <a:endParaRPr lang="en-US" sz="1200" dirty="0"/>
          </a:p>
          <a:p>
            <a:r>
              <a:rPr lang="en-US" sz="1200" dirty="0"/>
              <a:t>Assertion (A): In Bayesian optimization with partially specified queries—where only a subset of variables is specified and the remainder are randomly drawn, optimizing the conditional expectation over unspecified variables—posterior-sampling algorithms for known and unknown input distributions that use GP samples with UCB-style bonuses for empirical distribution estimates under an independence assumption attain sublinear Bayesian cumulative regret for popular kernels without exponential dependence on dimensionality. Reason (R): This holds because the algorithms incorporate GP samples and UCB-style bonuses for empirical distribution estimates under an independence assumption for both known and unknown input distributions.</a:t>
            </a:r>
          </a:p>
          <a:p>
            <a:endParaRPr lang="en-US" sz="1200" dirty="0"/>
          </a:p>
        </p:txBody>
      </p:sp>
    </p:spTree>
    <p:extLst>
      <p:ext uri="{BB962C8B-B14F-4D97-AF65-F5344CB8AC3E}">
        <p14:creationId xmlns:p14="http://schemas.microsoft.com/office/powerpoint/2010/main" val="2137540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913C7-07A9-EBFE-EDAE-5A139B51BC5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121F055-5CC4-0ACE-E007-14BCB748C5B7}"/>
              </a:ext>
            </a:extLst>
          </p:cNvPr>
          <p:cNvSpPr txBox="1"/>
          <p:nvPr/>
        </p:nvSpPr>
        <p:spPr>
          <a:xfrm>
            <a:off x="402336" y="338328"/>
            <a:ext cx="11484864" cy="5847755"/>
          </a:xfrm>
          <a:prstGeom prst="rect">
            <a:avLst/>
          </a:prstGeom>
          <a:noFill/>
        </p:spPr>
        <p:txBody>
          <a:bodyPr wrap="square" rtlCol="0">
            <a:spAutoFit/>
          </a:bodyPr>
          <a:lstStyle/>
          <a:p>
            <a:r>
              <a:rPr lang="en-US" sz="1100" b="1" dirty="0"/>
              <a:t>Sample 1  (Summarization Task)</a:t>
            </a:r>
          </a:p>
          <a:p>
            <a:endParaRPr lang="en-US" sz="1100" b="1" dirty="0"/>
          </a:p>
          <a:p>
            <a:r>
              <a:rPr lang="en-US" sz="1100" b="1" dirty="0"/>
              <a:t>Query:</a:t>
            </a:r>
          </a:p>
          <a:p>
            <a:endParaRPr lang="en-US" sz="1100" b="1" dirty="0"/>
          </a:p>
          <a:p>
            <a:r>
              <a:rPr lang="en-US" sz="1100" dirty="0"/>
              <a:t>The following are the paper titles and their corresponding claims: </a:t>
            </a:r>
            <a:endParaRPr lang="en-US" sz="1100" b="0" dirty="0">
              <a:effectLst/>
            </a:endParaRPr>
          </a:p>
          <a:p>
            <a:endParaRPr lang="en-US" sz="1100" b="0" dirty="0">
              <a:effectLst/>
            </a:endParaRPr>
          </a:p>
          <a:p>
            <a:r>
              <a:rPr lang="en-US" sz="1100" dirty="0"/>
              <a:t>1. Paper Title - Bayesian Optimization with Cost-varying Variable Subsets</a:t>
            </a:r>
            <a:br>
              <a:rPr lang="en-US" sz="1100" b="0" dirty="0">
                <a:effectLst/>
              </a:rPr>
            </a:br>
            <a:endParaRPr lang="en-US" sz="1100" b="0" dirty="0">
              <a:effectLst/>
            </a:endParaRPr>
          </a:p>
          <a:p>
            <a:r>
              <a:rPr lang="en-US" sz="1100" dirty="0"/>
              <a:t>Claim - Bayesian optimization can efficiently optimize problems where only a selected subset of variables is controlled and the remaining variables are randomly sampled, even when controlling different subsets incurs different costs, by balancing the information gained from additional control against its cost.</a:t>
            </a:r>
            <a:br>
              <a:rPr lang="en-US" sz="1100" b="0" dirty="0">
                <a:effectLst/>
              </a:rPr>
            </a:br>
            <a:endParaRPr lang="en-US" sz="1100" b="0" dirty="0">
              <a:effectLst/>
            </a:endParaRPr>
          </a:p>
          <a:p>
            <a:r>
              <a:rPr lang="en-US" sz="1100" dirty="0"/>
              <a:t>2. Paper Title - Bayesian Optimization for Unknown Cost-Varying Variable Subsets with No-Regret Costs</a:t>
            </a:r>
            <a:endParaRPr lang="en-US" sz="1100" b="0" dirty="0">
              <a:effectLst/>
            </a:endParaRPr>
          </a:p>
          <a:p>
            <a:endParaRPr lang="en-US" sz="1100" b="0" dirty="0">
              <a:effectLst/>
            </a:endParaRPr>
          </a:p>
          <a:p>
            <a:r>
              <a:rPr lang="en-US" sz="1100" dirty="0"/>
              <a:t>Claim - Bayesian optimization with partially controlled variables can achieve no-regret performance even when the costs associated with controlling different variable subsets are initially unknown, by simultaneously learning which subsets provide useful optimization information and which have favorable costs.</a:t>
            </a:r>
            <a:br>
              <a:rPr lang="en-US" sz="1100" b="0" dirty="0">
                <a:effectLst/>
              </a:rPr>
            </a:br>
            <a:endParaRPr lang="en-US" sz="1100" b="0" dirty="0">
              <a:effectLst/>
            </a:endParaRPr>
          </a:p>
          <a:p>
            <a:r>
              <a:rPr lang="en-US" sz="1100" dirty="0"/>
              <a:t>3. Paper Title - Bayesian Optimization with Missing Inputs</a:t>
            </a:r>
            <a:endParaRPr lang="en-US" sz="1100" b="0" dirty="0">
              <a:effectLst/>
            </a:endParaRPr>
          </a:p>
          <a:p>
            <a:endParaRPr lang="en-US" sz="1100" b="0" dirty="0">
              <a:effectLst/>
            </a:endParaRPr>
          </a:p>
          <a:p>
            <a:r>
              <a:rPr lang="en-US" sz="1100" dirty="0"/>
              <a:t>Claim - Bayesian optimization can remain effective when some input variables are missing or unexpectedly take unknown values by modeling the distribution of the missing variables and incorporating the resulting uncertainty into the acquisition function.</a:t>
            </a:r>
            <a:br>
              <a:rPr lang="en-US" sz="1100" b="0" dirty="0">
                <a:effectLst/>
              </a:rPr>
            </a:br>
            <a:endParaRPr lang="en-US" sz="1100" b="0" dirty="0">
              <a:effectLst/>
            </a:endParaRPr>
          </a:p>
          <a:p>
            <a:r>
              <a:rPr lang="en-US" sz="1100" dirty="0"/>
              <a:t>4. Paper Title - High Dimensional Bayesian Optimization using Dropout</a:t>
            </a:r>
          </a:p>
          <a:p>
            <a:endParaRPr lang="en-US" sz="1100" b="0" dirty="0">
              <a:effectLst/>
            </a:endParaRPr>
          </a:p>
          <a:p>
            <a:r>
              <a:rPr lang="en-US" sz="1100" dirty="0"/>
              <a:t>Claim - High-dimensional Bayesian optimization can be made tractable by optimizing only a subset of variables at each iteration, with theoretical regret guarantees showing that this dropout strategy can effectively reduce the difficulty of high-dimensional acquisition optimization.</a:t>
            </a:r>
            <a:br>
              <a:rPr lang="en-US" sz="1100" b="0" dirty="0">
                <a:effectLst/>
              </a:rPr>
            </a:br>
            <a:endParaRPr lang="en-US" sz="1100" b="0" dirty="0">
              <a:effectLst/>
            </a:endParaRPr>
          </a:p>
          <a:p>
            <a:r>
              <a:rPr lang="en-US" sz="1100" dirty="0">
                <a:solidFill>
                  <a:srgbClr val="FF0000"/>
                </a:solidFill>
              </a:rPr>
              <a:t>5. Paper Title - Bayesian optimization with partially specified queries</a:t>
            </a:r>
          </a:p>
          <a:p>
            <a:endParaRPr lang="en-US" sz="1100" b="0" dirty="0">
              <a:solidFill>
                <a:srgbClr val="FF0000"/>
              </a:solidFill>
              <a:effectLst/>
            </a:endParaRPr>
          </a:p>
          <a:p>
            <a:r>
              <a:rPr lang="en-US" sz="1100" dirty="0">
                <a:solidFill>
                  <a:srgbClr val="FF0000"/>
                </a:solidFill>
              </a:rPr>
              <a:t>Claim - Bayesian optimization with partially specified queries formalizes optimization where only a subset of input variables are specified and the remainder are randomly drawn, optimizing the conditional expectation over unspecified variables, and posterior-sampling algorithms for known and unknown input distributions—incorporating GP samples and UCB-style bonuses for empirical distribution estimates under an independence assumption—admit sublinear Bayesian cumulative regret for popular kernels without exponential dependence on dimensionality.</a:t>
            </a:r>
            <a:br>
              <a:rPr lang="en-US" sz="1100" b="0" dirty="0">
                <a:effectLst/>
              </a:rPr>
            </a:br>
            <a:endParaRPr lang="en-US" sz="1100" b="0" dirty="0">
              <a:effectLst/>
            </a:endParaRPr>
          </a:p>
          <a:p>
            <a:r>
              <a:rPr lang="en-US" sz="1100" dirty="0"/>
              <a:t>Using the context above, write a summary about 'High-dimensional and partially specified Bayesian Optimization'.</a:t>
            </a:r>
            <a:endParaRPr lang="en-US" sz="1100" b="0" dirty="0">
              <a:effectLst/>
            </a:endParaRPr>
          </a:p>
        </p:txBody>
      </p:sp>
    </p:spTree>
    <p:extLst>
      <p:ext uri="{BB962C8B-B14F-4D97-AF65-F5344CB8AC3E}">
        <p14:creationId xmlns:p14="http://schemas.microsoft.com/office/powerpoint/2010/main" val="38333296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551CF-D070-47EF-D208-5E559781751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6196F1-AABF-B551-A263-32211D607846}"/>
              </a:ext>
            </a:extLst>
          </p:cNvPr>
          <p:cNvSpPr txBox="1"/>
          <p:nvPr/>
        </p:nvSpPr>
        <p:spPr>
          <a:xfrm>
            <a:off x="402336" y="338328"/>
            <a:ext cx="11484864" cy="6324808"/>
          </a:xfrm>
          <a:prstGeom prst="rect">
            <a:avLst/>
          </a:prstGeom>
          <a:noFill/>
        </p:spPr>
        <p:txBody>
          <a:bodyPr wrap="square" rtlCol="0">
            <a:spAutoFit/>
          </a:bodyPr>
          <a:lstStyle/>
          <a:p>
            <a:r>
              <a:rPr lang="en-US" sz="1400" b="1" dirty="0"/>
              <a:t>Sample 1</a:t>
            </a:r>
          </a:p>
          <a:p>
            <a:endParaRPr lang="en-US" sz="1400" b="1" dirty="0"/>
          </a:p>
          <a:p>
            <a:r>
              <a:rPr lang="en-US" sz="1400" b="1" dirty="0"/>
              <a:t>Answer:</a:t>
            </a:r>
          </a:p>
          <a:p>
            <a:endParaRPr lang="en-US" sz="1100" b="1" dirty="0"/>
          </a:p>
          <a:p>
            <a:r>
              <a:rPr lang="en-US" sz="1400" dirty="0"/>
              <a:t>**Summary: High-dimensional and Partially Specified Bayesian Optimization**</a:t>
            </a:r>
            <a:endParaRPr lang="en-US" sz="1000" b="0" dirty="0">
              <a:effectLst/>
            </a:endParaRPr>
          </a:p>
          <a:p>
            <a:br>
              <a:rPr lang="en-US" sz="1000" b="0" dirty="0">
                <a:effectLst/>
              </a:rPr>
            </a:br>
            <a:endParaRPr lang="en-US" sz="1000" b="0" dirty="0">
              <a:effectLst/>
            </a:endParaRPr>
          </a:p>
          <a:p>
            <a:r>
              <a:rPr lang="en-US" sz="1400" dirty="0"/>
              <a:t>Recent advances in Bayesian optimization have addressed the significant challenges posed by high-dimensional optimization problems and scenarios where only partial information about the input variables is available at each step. These approaches leverage the structure of Bayesian optimization—where a Gaussian Process (GP) surrogate models the objective function—to efficiently navigate the search space despite limitations in both dimensionality and input specification.</a:t>
            </a:r>
            <a:endParaRPr lang="en-US" sz="1000" b="0" dirty="0">
              <a:effectLst/>
            </a:endParaRPr>
          </a:p>
          <a:p>
            <a:br>
              <a:rPr lang="en-US" sz="1000" b="0" dirty="0">
                <a:effectLst/>
              </a:rPr>
            </a:br>
            <a:endParaRPr lang="en-US" sz="1000" b="0" dirty="0">
              <a:effectLst/>
            </a:endParaRPr>
          </a:p>
          <a:p>
            <a:r>
              <a:rPr lang="en-US" sz="1400" dirty="0"/>
              <a:t>In high-dimensional settings, a key strategy is to avoid direct optimization over all variables at once by selecting a subset of variables to optimize in each iteration (often termed "dropout" or "variable selection" methods). This reduces computational complexity and can be theoretically justified with regret guarantees, showing that focusing on a subset can still yield near-optimal performance relative to the full-dimensional search space. This is particularly useful when the dimensionality grows too large for standard acquisition functions to be tractable.</a:t>
            </a:r>
            <a:endParaRPr lang="en-US" sz="1000" b="0" dirty="0">
              <a:effectLst/>
            </a:endParaRPr>
          </a:p>
          <a:p>
            <a:br>
              <a:rPr lang="en-US" sz="1000" b="0" dirty="0">
                <a:effectLst/>
              </a:rPr>
            </a:br>
            <a:endParaRPr lang="en-US" sz="1000" b="0" dirty="0">
              <a:effectLst/>
            </a:endParaRPr>
          </a:p>
          <a:p>
            <a:r>
              <a:rPr lang="en-US" sz="1400" dirty="0">
                <a:solidFill>
                  <a:schemeClr val="accent5">
                    <a:lumMod val="60000"/>
                    <a:lumOff val="40000"/>
                  </a:schemeClr>
                </a:solidFill>
              </a:rPr>
              <a:t>Another important direction concerns partially specified queries, where not all input variables are provided at each evaluation. Instead, only a subset of variables is explicitly set by the optimizer, while the remaining variables are either randomly sampled or take default values. Bayesian optimization is adapted to handle this uncertainty by modeling the distribution over the missing variables and optimizing either the conditional expectation of the objective given the observed inputs or by combining acquisition strategies that account for empirical estimates (such as UCB bonuses) under assumptions like input independence. This allows the algorithm to still achieve sublinear cumulative regret for popular kernel functions, even when the input space is large and only partially controlled.</a:t>
            </a:r>
            <a:endParaRPr lang="en-US" sz="1000" b="0" dirty="0">
              <a:solidFill>
                <a:schemeClr val="accent5">
                  <a:lumMod val="60000"/>
                  <a:lumOff val="40000"/>
                </a:schemeClr>
              </a:solidFill>
              <a:effectLst/>
            </a:endParaRPr>
          </a:p>
          <a:p>
            <a:br>
              <a:rPr lang="en-US" sz="1000" b="0" dirty="0">
                <a:effectLst/>
              </a:rPr>
            </a:br>
            <a:endParaRPr lang="en-US" sz="1000" b="0" dirty="0">
              <a:effectLst/>
            </a:endParaRPr>
          </a:p>
          <a:p>
            <a:r>
              <a:rPr lang="en-US" sz="1400" dirty="0"/>
              <a:t>Together, these techniques enable Bayesian optimization to remain practical and effective in complex, high-dimensional, and partially specified optimization problems. By intelligently selecting which variables to control or observe, and by managing uncertainty over missing or uncontrolled inputs, these methods provide robust and efficient pathways to global or near-optimal solutions in challenging real-world scenarios.</a:t>
            </a:r>
            <a:endParaRPr lang="en-US" sz="1000" b="0" dirty="0">
              <a:effectLst/>
            </a:endParaRPr>
          </a:p>
          <a:p>
            <a:br>
              <a:rPr lang="en-US" sz="1000" dirty="0"/>
            </a:br>
            <a:endParaRPr lang="en-US" sz="1000" b="0" dirty="0">
              <a:effectLst/>
            </a:endParaRPr>
          </a:p>
        </p:txBody>
      </p:sp>
    </p:spTree>
    <p:extLst>
      <p:ext uri="{BB962C8B-B14F-4D97-AF65-F5344CB8AC3E}">
        <p14:creationId xmlns:p14="http://schemas.microsoft.com/office/powerpoint/2010/main" val="1008252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D23E3-50D2-C42F-2596-0A79B6F9135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F9EE4EB-F4B4-3B06-061A-DAA43DD601EA}"/>
              </a:ext>
            </a:extLst>
          </p:cNvPr>
          <p:cNvSpPr txBox="1"/>
          <p:nvPr/>
        </p:nvSpPr>
        <p:spPr>
          <a:xfrm>
            <a:off x="402336" y="338328"/>
            <a:ext cx="11484864" cy="5755422"/>
          </a:xfrm>
          <a:prstGeom prst="rect">
            <a:avLst/>
          </a:prstGeom>
          <a:noFill/>
        </p:spPr>
        <p:txBody>
          <a:bodyPr wrap="square" rtlCol="0">
            <a:spAutoFit/>
          </a:bodyPr>
          <a:lstStyle/>
          <a:p>
            <a:r>
              <a:rPr lang="en-US" b="1" dirty="0"/>
              <a:t>Sample 1  (Long Open ended Question Task)</a:t>
            </a:r>
          </a:p>
          <a:p>
            <a:endParaRPr lang="en-US" b="1" dirty="0"/>
          </a:p>
          <a:p>
            <a:r>
              <a:rPr lang="en-US" b="1" dirty="0"/>
              <a:t>Query:</a:t>
            </a:r>
          </a:p>
          <a:p>
            <a:endParaRPr lang="en-US" b="1" dirty="0"/>
          </a:p>
          <a:p>
            <a:r>
              <a:rPr lang="en-US" sz="2000" dirty="0"/>
              <a:t>How does Bayesian optimization with partially specified queries formulate the optimization problem when only a subset of input variables is specified and the remaining variables are randomly drawn, and how does this formulation differ from standard Bayesian optimization where all input variables are explicitly selected?</a:t>
            </a:r>
          </a:p>
          <a:p>
            <a:endParaRPr lang="en-US" sz="2000" b="1" dirty="0"/>
          </a:p>
          <a:p>
            <a:endParaRPr lang="en-US" sz="2000" b="1" dirty="0"/>
          </a:p>
          <a:p>
            <a:r>
              <a:rPr lang="en-US" sz="2000" b="1" dirty="0"/>
              <a:t>Answer:</a:t>
            </a:r>
          </a:p>
          <a:p>
            <a:endParaRPr lang="en-US" sz="1200" b="1" dirty="0"/>
          </a:p>
          <a:p>
            <a:r>
              <a:rPr lang="en-US" dirty="0"/>
              <a:t>In Bayesian optimization with partially specified queries, the optimization problem is formulated by considering only a subset of input variables as explicitly chosen (specified) at each step, while the remaining variables are treated as randomly drawn or unknown. The objective is to optimize the expected value of the function given the partial information from the specified variables, accounting for uncertainty over the unspecified variables. This contrasts with standard Bayesian optimization, where all variables are selected deliberately and their values are controlled, so the model relies on full, explicit evaluation of all inputs. In the partial specification case, the uncertainty over unselected variables is modeled probabilistically, and the acquisition strategy balances exploration of the unknowns with the information gained from the specified subset.</a:t>
            </a:r>
            <a:endParaRPr lang="en-US" sz="900" dirty="0"/>
          </a:p>
        </p:txBody>
      </p:sp>
    </p:spTree>
    <p:extLst>
      <p:ext uri="{BB962C8B-B14F-4D97-AF65-F5344CB8AC3E}">
        <p14:creationId xmlns:p14="http://schemas.microsoft.com/office/powerpoint/2010/main" val="2919109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B9BA5-E306-9719-17C5-54990B72765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7018683-3D64-585F-C59A-60AF46CB3F70}"/>
              </a:ext>
            </a:extLst>
          </p:cNvPr>
          <p:cNvSpPr txBox="1"/>
          <p:nvPr/>
        </p:nvSpPr>
        <p:spPr>
          <a:xfrm>
            <a:off x="325922" y="736936"/>
            <a:ext cx="11328400" cy="6001643"/>
          </a:xfrm>
          <a:prstGeom prst="rect">
            <a:avLst/>
          </a:prstGeom>
          <a:noFill/>
        </p:spPr>
        <p:txBody>
          <a:bodyPr wrap="square" rtlCol="0">
            <a:spAutoFit/>
          </a:bodyPr>
          <a:lstStyle/>
          <a:p>
            <a:r>
              <a:rPr lang="en-US" sz="800" b="1" dirty="0"/>
              <a:t>High-Dimensional and Partially Specified Bayesian Optimization: A Literature Review Summary</a:t>
            </a:r>
          </a:p>
          <a:p>
            <a:r>
              <a:rPr lang="en-US" sz="800" b="1" dirty="0"/>
              <a:t>Introduction</a:t>
            </a:r>
          </a:p>
          <a:p>
            <a:r>
              <a:rPr lang="en-US" sz="800" dirty="0"/>
              <a:t>Bayesian Optimization (BO) is a sequential optimization framework designed for expensive black-box functions where function evaluations are costly, noisy, or time-consuming. BO typically combines a probabilistic surrogate model, most commonly a Gaussian Process (GP), with an acquisition function that determines where to sample next. While BO has achieved substantial success in low-dimensional settings, many real-world applications such as hyperparameter tuning, materials discovery, robotics, engineering design, and drug development involve either </a:t>
            </a:r>
            <a:r>
              <a:rPr lang="en-US" sz="800" b="1" dirty="0"/>
              <a:t>high-dimensional search spaces</a:t>
            </a:r>
            <a:r>
              <a:rPr lang="en-US" sz="800" dirty="0"/>
              <a:t> or </a:t>
            </a:r>
            <a:r>
              <a:rPr lang="en-US" sz="800" b="1" dirty="0"/>
              <a:t>partially controllable decision variables</a:t>
            </a:r>
            <a:r>
              <a:rPr lang="en-US" sz="800" dirty="0"/>
              <a:t>, motivating the development of high-dimensional and partially specified variants of BO. </a:t>
            </a:r>
            <a:r>
              <a:rPr lang="en-US" sz="800" dirty="0">
                <a:hlinkClick r:id="rId2"/>
              </a:rPr>
              <a:t>[arxiv.org]</a:t>
            </a:r>
            <a:r>
              <a:rPr lang="en-US" sz="800" dirty="0"/>
              <a:t>, </a:t>
            </a:r>
            <a:r>
              <a:rPr lang="en-US" sz="800" dirty="0">
                <a:hlinkClick r:id="rId3"/>
              </a:rPr>
              <a:t>[link.springer.com]</a:t>
            </a:r>
            <a:endParaRPr lang="en-US" sz="800" dirty="0"/>
          </a:p>
          <a:p>
            <a:br>
              <a:rPr lang="en-US" sz="800" dirty="0"/>
            </a:br>
            <a:endParaRPr lang="en-US" sz="800" dirty="0"/>
          </a:p>
          <a:p>
            <a:r>
              <a:rPr lang="en-US" sz="800" b="1" dirty="0"/>
              <a:t>High-Dimensional Bayesian Optimization (HDBO)</a:t>
            </a:r>
          </a:p>
          <a:p>
            <a:r>
              <a:rPr lang="en-US" sz="800" dirty="0"/>
              <a:t>A major limitation of classical BO is its poor scalability with increasing dimensionality. As the number of dimensions grows, the volume of the search space expands exponentially, resulting in sparse observations and degraded surrogate model accuracy. This phenomenon, known as the </a:t>
            </a:r>
            <a:r>
              <a:rPr lang="en-US" sz="800" b="1" dirty="0"/>
              <a:t>curse of dimensionality</a:t>
            </a:r>
            <a:r>
              <a:rPr lang="en-US" sz="800" dirty="0"/>
              <a:t>, makes both Gaussian process inference and acquisition optimization increasingly challenging. Traditional wisdom suggested that GP-based BO becomes unreliable beyond approximately 20 dimensions under realistic evaluation budgets. </a:t>
            </a:r>
            <a:r>
              <a:rPr lang="en-US" sz="800" dirty="0">
                <a:hlinkClick r:id="rId2"/>
              </a:rPr>
              <a:t>[arxiv.org]</a:t>
            </a:r>
            <a:endParaRPr lang="en-US" sz="800" dirty="0"/>
          </a:p>
          <a:p>
            <a:r>
              <a:rPr lang="en-US" sz="800" dirty="0"/>
              <a:t>To address these challenges, researchers have proposed several classes of High-Dimensional Bayesian Optimization (HDBO) methods.</a:t>
            </a:r>
          </a:p>
          <a:p>
            <a:r>
              <a:rPr lang="en-US" sz="800" b="1" dirty="0"/>
              <a:t>1. Low-Dimensional Embedding Approaches</a:t>
            </a:r>
          </a:p>
          <a:p>
            <a:r>
              <a:rPr lang="en-US" sz="800" dirty="0"/>
              <a:t>One influential line of work assumes that although the ambient search space is high-dimensional, the objective function depends on a much smaller number of latent dimensions. Methods such as Random Embedding Bayesian Optimization (REMBO) project the search into a low-dimensional subspace and perform optimization within that representation. This significantly reduces sample complexity while preserving the ability to locate near-optimal solutions. </a:t>
            </a:r>
            <a:r>
              <a:rPr lang="en-US" sz="800" dirty="0">
                <a:hlinkClick r:id="rId2"/>
              </a:rPr>
              <a:t>[arxiv.org]</a:t>
            </a:r>
            <a:endParaRPr lang="en-US" sz="800" dirty="0"/>
          </a:p>
          <a:p>
            <a:r>
              <a:rPr lang="en-US" sz="800" b="1" dirty="0"/>
              <a:t>2. Active Subspace Learning</a:t>
            </a:r>
          </a:p>
          <a:p>
            <a:r>
              <a:rPr lang="en-US" sz="800" dirty="0"/>
              <a:t>Active-subspace methods identify directions along which the objective varies most strongly and concentrate the search on these dimensions. Rather than assuming a fixed embedding, the active subspace is learned from observations during optimization. Such approaches improve efficiency when only a subset of directions substantially influences performance. </a:t>
            </a:r>
            <a:r>
              <a:rPr lang="en-US" sz="800" dirty="0">
                <a:hlinkClick r:id="rId2"/>
              </a:rPr>
              <a:t>[arxiv.org]</a:t>
            </a:r>
            <a:endParaRPr lang="en-US" sz="800" dirty="0"/>
          </a:p>
          <a:p>
            <a:r>
              <a:rPr lang="en-US" sz="800" b="1" dirty="0"/>
              <a:t>3. Additive Gaussian Process Models</a:t>
            </a:r>
          </a:p>
          <a:p>
            <a:r>
              <a:rPr lang="en-US" sz="800" dirty="0"/>
              <a:t>Another strategy assumes that the objective function can be decomposed into additive low-dimensional components. Additive GP models exploit this structure, enabling scalable surrogate modeling and more efficient optimization in high-dimensional settings. These methods are particularly effective when variables interact within small groups rather than globally. </a:t>
            </a:r>
            <a:r>
              <a:rPr lang="en-US" sz="800" dirty="0">
                <a:hlinkClick r:id="rId2"/>
              </a:rPr>
              <a:t>[arxiv.org]</a:t>
            </a:r>
            <a:endParaRPr lang="en-US" sz="800" dirty="0"/>
          </a:p>
          <a:p>
            <a:r>
              <a:rPr lang="en-US" sz="800" b="1" dirty="0"/>
              <a:t>4. Variable Selection and Sparse Learning</a:t>
            </a:r>
          </a:p>
          <a:p>
            <a:r>
              <a:rPr lang="en-US" sz="800" dirty="0"/>
              <a:t>Recent research has increasingly focused on identifying relevant variables while ignoring irrelevant dimensions. Hoang et al. (2025) introduced a Lasso-based variable-selection framework that uses GP kernel length scales to identify influential variables and restrict acquisition optimization to promising subspaces. Their method achieves state-of-the-art performance while maintaining theoretical guarantees on regret growth. </a:t>
            </a:r>
            <a:r>
              <a:rPr lang="en-US" sz="800" dirty="0">
                <a:hlinkClick r:id="rId4"/>
              </a:rPr>
              <a:t>[proceeding....</a:t>
            </a:r>
            <a:r>
              <a:rPr lang="en-US" sz="800" dirty="0" err="1">
                <a:hlinkClick r:id="rId4"/>
              </a:rPr>
              <a:t>mlr.press</a:t>
            </a:r>
            <a:r>
              <a:rPr lang="en-US" sz="800" dirty="0">
                <a:hlinkClick r:id="rId4"/>
              </a:rPr>
              <a:t>]</a:t>
            </a:r>
            <a:endParaRPr lang="en-US" sz="800" dirty="0"/>
          </a:p>
          <a:p>
            <a:r>
              <a:rPr lang="en-US" sz="800" b="1" dirty="0"/>
              <a:t>Recent Advances</a:t>
            </a:r>
          </a:p>
          <a:p>
            <a:r>
              <a:rPr lang="en-US" sz="800" dirty="0"/>
              <a:t>A comprehensive study by </a:t>
            </a:r>
            <a:r>
              <a:rPr lang="en-US" sz="800" dirty="0" err="1"/>
              <a:t>Papenmeier</a:t>
            </a:r>
            <a:r>
              <a:rPr lang="en-US" sz="800" dirty="0"/>
              <a:t>, Poloczek, and Nardi (2025) challenged common assumptions regarding the limitations of HDBO. They demonstrated that many observed failures stem not solely from dimensionality but also from poor Gaussian process initialization and vanishing gradients during acquisition optimization. Their findings suggest that properly estimated GP length scales and local-search-oriented acquisition strategies can achieve highly competitive performance even in settings previously considered too high-dimensional for standard BO. </a:t>
            </a:r>
            <a:r>
              <a:rPr lang="en-US" sz="800" dirty="0">
                <a:hlinkClick r:id="rId5"/>
              </a:rPr>
              <a:t>[arxiv.org]</a:t>
            </a:r>
            <a:r>
              <a:rPr lang="en-US" sz="800" dirty="0"/>
              <a:t>, </a:t>
            </a:r>
            <a:r>
              <a:rPr lang="en-US" sz="800" dirty="0">
                <a:hlinkClick r:id="rId2"/>
              </a:rPr>
              <a:t>[arxiv.org]</a:t>
            </a:r>
            <a:endParaRPr lang="en-US" sz="800" dirty="0"/>
          </a:p>
          <a:p>
            <a:r>
              <a:rPr lang="en-US" sz="800" dirty="0"/>
              <a:t>Overall, modern HDBO research has shifted from combating dimensionality directly toward discovering and exploiting hidden low-dimensional structure within high-dimensional spaces. </a:t>
            </a:r>
            <a:r>
              <a:rPr lang="en-US" sz="800" dirty="0">
                <a:hlinkClick r:id="rId5"/>
              </a:rPr>
              <a:t>[arxiv.org]</a:t>
            </a:r>
            <a:r>
              <a:rPr lang="en-US" sz="800" dirty="0"/>
              <a:t>, </a:t>
            </a:r>
            <a:r>
              <a:rPr lang="en-US" sz="800" dirty="0">
                <a:hlinkClick r:id="rId4"/>
              </a:rPr>
              <a:t>[proceeding....</a:t>
            </a:r>
            <a:r>
              <a:rPr lang="en-US" sz="800" dirty="0" err="1">
                <a:hlinkClick r:id="rId4"/>
              </a:rPr>
              <a:t>mlr.press</a:t>
            </a:r>
            <a:r>
              <a:rPr lang="en-US" sz="800" dirty="0">
                <a:hlinkClick r:id="rId4"/>
              </a:rPr>
              <a:t>]</a:t>
            </a:r>
            <a:endParaRPr lang="en-US" sz="800" dirty="0"/>
          </a:p>
          <a:p>
            <a:br>
              <a:rPr lang="en-US" sz="800" dirty="0"/>
            </a:br>
            <a:endParaRPr lang="en-US" sz="800" dirty="0"/>
          </a:p>
          <a:p>
            <a:r>
              <a:rPr lang="en-US" sz="800" b="1" dirty="0">
                <a:solidFill>
                  <a:srgbClr val="C00000"/>
                </a:solidFill>
              </a:rPr>
              <a:t>Partially Specified Bayesian Optimization</a:t>
            </a:r>
          </a:p>
          <a:p>
            <a:r>
              <a:rPr lang="en-US" sz="800" dirty="0">
                <a:solidFill>
                  <a:srgbClr val="C00000"/>
                </a:solidFill>
              </a:rPr>
              <a:t>While HDBO addresses scalability, another practical challenge arises when decision-makers cannot directly control or specify all optimization variables. In many real-world scenarios, some variables are determined by external entities, stochastic processes, environmental factors, or operational constraints. Examples include crowdsourcing, manufacturing systems, supply-chain optimization, and human-in-the-loop experimentation. </a:t>
            </a:r>
            <a:r>
              <a:rPr lang="en-US" sz="800" dirty="0">
                <a:solidFill>
                  <a:srgbClr val="C00000"/>
                </a:solidFill>
                <a:hlinkClick r:id="rId3">
                  <a:extLst>
                    <a:ext uri="{A12FA001-AC4F-418D-AE19-62706E023703}">
                      <ahyp:hlinkClr xmlns:ahyp="http://schemas.microsoft.com/office/drawing/2018/hyperlinkcolor" val="tx"/>
                    </a:ext>
                  </a:extLst>
                </a:hlinkClick>
              </a:rPr>
              <a:t>[link.springer.com]</a:t>
            </a:r>
            <a:r>
              <a:rPr lang="en-US" sz="800" dirty="0">
                <a:solidFill>
                  <a:srgbClr val="C00000"/>
                </a:solidFill>
              </a:rPr>
              <a:t>, </a:t>
            </a:r>
            <a:r>
              <a:rPr lang="en-US" sz="800" dirty="0">
                <a:solidFill>
                  <a:srgbClr val="C00000"/>
                </a:solidFill>
                <a:hlinkClick r:id="rId6">
                  <a:extLst>
                    <a:ext uri="{A12FA001-AC4F-418D-AE19-62706E023703}">
                      <ahyp:hlinkClr xmlns:ahyp="http://schemas.microsoft.com/office/drawing/2018/hyperlinkcolor" val="tx"/>
                    </a:ext>
                  </a:extLst>
                </a:hlinkClick>
              </a:rPr>
              <a:t>[acml-conf.org]</a:t>
            </a:r>
            <a:endParaRPr lang="en-US" sz="800" dirty="0">
              <a:solidFill>
                <a:srgbClr val="C00000"/>
              </a:solidFill>
            </a:endParaRPr>
          </a:p>
          <a:p>
            <a:r>
              <a:rPr lang="en-US" sz="800" dirty="0">
                <a:solidFill>
                  <a:srgbClr val="C00000"/>
                </a:solidFill>
              </a:rPr>
              <a:t>To formalize this setting, Hayashi, Honda, and Kashima introduced </a:t>
            </a:r>
            <a:r>
              <a:rPr lang="en-US" sz="800" b="1" dirty="0">
                <a:solidFill>
                  <a:srgbClr val="C00000"/>
                </a:solidFill>
              </a:rPr>
              <a:t>Bayesian Optimization with Partially Specified Queries (BOPSQ)</a:t>
            </a:r>
            <a:r>
              <a:rPr lang="en-US" sz="800" dirty="0">
                <a:solidFill>
                  <a:srgbClr val="C00000"/>
                </a:solidFill>
              </a:rPr>
              <a:t>. </a:t>
            </a:r>
            <a:r>
              <a:rPr lang="en-US" sz="800" dirty="0">
                <a:solidFill>
                  <a:srgbClr val="C00000"/>
                </a:solidFill>
                <a:hlinkClick r:id="rId7">
                  <a:extLst>
                    <a:ext uri="{A12FA001-AC4F-418D-AE19-62706E023703}">
                      <ahyp:hlinkClr xmlns:ahyp="http://schemas.microsoft.com/office/drawing/2018/hyperlinkcolor" val="tx"/>
                    </a:ext>
                  </a:extLst>
                </a:hlinkClick>
              </a:rPr>
              <a:t>[link.springer.com]</a:t>
            </a:r>
            <a:r>
              <a:rPr lang="en-US" sz="800" dirty="0">
                <a:solidFill>
                  <a:srgbClr val="C00000"/>
                </a:solidFill>
              </a:rPr>
              <a:t>, </a:t>
            </a:r>
            <a:r>
              <a:rPr lang="en-US" sz="800" dirty="0">
                <a:solidFill>
                  <a:srgbClr val="C00000"/>
                </a:solidFill>
                <a:hlinkClick r:id="rId3">
                  <a:extLst>
                    <a:ext uri="{A12FA001-AC4F-418D-AE19-62706E023703}">
                      <ahyp:hlinkClr xmlns:ahyp="http://schemas.microsoft.com/office/drawing/2018/hyperlinkcolor" val="tx"/>
                    </a:ext>
                  </a:extLst>
                </a:hlinkClick>
              </a:rPr>
              <a:t>[link.springer.com]</a:t>
            </a:r>
            <a:endParaRPr lang="en-US" sz="800" dirty="0">
              <a:solidFill>
                <a:srgbClr val="C00000"/>
              </a:solidFill>
            </a:endParaRPr>
          </a:p>
          <a:p>
            <a:r>
              <a:rPr lang="en-US" sz="800" b="1" dirty="0">
                <a:solidFill>
                  <a:srgbClr val="C00000"/>
                </a:solidFill>
              </a:rPr>
              <a:t>Bayesian Optimization with Partially Specified Queries (BOPSQ)</a:t>
            </a:r>
          </a:p>
          <a:p>
            <a:r>
              <a:rPr lang="en-US" sz="800" dirty="0">
                <a:solidFill>
                  <a:srgbClr val="C00000"/>
                </a:solidFill>
              </a:rPr>
              <a:t>In BOPSQ, the optimizer selects values for only a subset of variables. The remaining variables are generated according to either:</a:t>
            </a:r>
          </a:p>
          <a:p>
            <a:pPr lvl="0"/>
            <a:r>
              <a:rPr lang="en-US" sz="800" dirty="0">
                <a:solidFill>
                  <a:srgbClr val="C00000"/>
                </a:solidFill>
              </a:rPr>
              <a:t>A known probability distribution, or</a:t>
            </a:r>
          </a:p>
          <a:p>
            <a:pPr lvl="0"/>
            <a:r>
              <a:rPr lang="en-US" sz="800" dirty="0">
                <a:solidFill>
                  <a:srgbClr val="C00000"/>
                </a:solidFill>
              </a:rPr>
              <a:t>An unknown distribution that must be learned during optimization. </a:t>
            </a:r>
            <a:r>
              <a:rPr lang="en-US" sz="800" dirty="0">
                <a:solidFill>
                  <a:srgbClr val="C00000"/>
                </a:solidFill>
                <a:hlinkClick r:id="rId3">
                  <a:extLst>
                    <a:ext uri="{A12FA001-AC4F-418D-AE19-62706E023703}">
                      <ahyp:hlinkClr xmlns:ahyp="http://schemas.microsoft.com/office/drawing/2018/hyperlinkcolor" val="tx"/>
                    </a:ext>
                  </a:extLst>
                </a:hlinkClick>
              </a:rPr>
              <a:t>[link.springer.com]</a:t>
            </a:r>
            <a:r>
              <a:rPr lang="en-US" sz="800" dirty="0">
                <a:solidFill>
                  <a:srgbClr val="C00000"/>
                </a:solidFill>
              </a:rPr>
              <a:t>, </a:t>
            </a:r>
            <a:r>
              <a:rPr lang="en-US" sz="800" dirty="0">
                <a:solidFill>
                  <a:srgbClr val="C00000"/>
                </a:solidFill>
                <a:hlinkClick r:id="rId6">
                  <a:extLst>
                    <a:ext uri="{A12FA001-AC4F-418D-AE19-62706E023703}">
                      <ahyp:hlinkClr xmlns:ahyp="http://schemas.microsoft.com/office/drawing/2018/hyperlinkcolor" val="tx"/>
                    </a:ext>
                  </a:extLst>
                </a:hlinkClick>
              </a:rPr>
              <a:t>[acml-conf.org]</a:t>
            </a:r>
            <a:endParaRPr lang="en-US" sz="800" dirty="0">
              <a:solidFill>
                <a:srgbClr val="C00000"/>
              </a:solidFill>
            </a:endParaRPr>
          </a:p>
          <a:p>
            <a:r>
              <a:rPr lang="en-US" sz="800" dirty="0">
                <a:solidFill>
                  <a:srgbClr val="C00000"/>
                </a:solidFill>
              </a:rPr>
              <a:t>Consequently, the optimization objective becomes maximizing expected performance under uncertainty rather than optimizing a fully specified input vector. This shift reflects practical situations where total control over the experimental configuration is impossible. </a:t>
            </a:r>
            <a:r>
              <a:rPr lang="en-US" sz="800" dirty="0">
                <a:solidFill>
                  <a:srgbClr val="C00000"/>
                </a:solidFill>
                <a:hlinkClick r:id="rId3">
                  <a:extLst>
                    <a:ext uri="{A12FA001-AC4F-418D-AE19-62706E023703}">
                      <ahyp:hlinkClr xmlns:ahyp="http://schemas.microsoft.com/office/drawing/2018/hyperlinkcolor" val="tx"/>
                    </a:ext>
                  </a:extLst>
                </a:hlinkClick>
              </a:rPr>
              <a:t>[link.springer.com]</a:t>
            </a:r>
            <a:r>
              <a:rPr lang="en-US" sz="800" dirty="0">
                <a:solidFill>
                  <a:srgbClr val="C00000"/>
                </a:solidFill>
              </a:rPr>
              <a:t>, </a:t>
            </a:r>
            <a:r>
              <a:rPr lang="en-US" sz="800" dirty="0">
                <a:solidFill>
                  <a:srgbClr val="C00000"/>
                </a:solidFill>
                <a:hlinkClick r:id="rId6">
                  <a:extLst>
                    <a:ext uri="{A12FA001-AC4F-418D-AE19-62706E023703}">
                      <ahyp:hlinkClr xmlns:ahyp="http://schemas.microsoft.com/office/drawing/2018/hyperlinkcolor" val="tx"/>
                    </a:ext>
                  </a:extLst>
                </a:hlinkClick>
              </a:rPr>
              <a:t>[acml-conf.org]</a:t>
            </a:r>
            <a:endParaRPr lang="en-US" sz="800" dirty="0">
              <a:solidFill>
                <a:srgbClr val="C00000"/>
              </a:solidFill>
            </a:endParaRPr>
          </a:p>
          <a:p>
            <a:r>
              <a:rPr lang="en-US" sz="800" b="1" dirty="0">
                <a:solidFill>
                  <a:srgbClr val="C00000"/>
                </a:solidFill>
              </a:rPr>
              <a:t>Proposed Algorithms</a:t>
            </a:r>
          </a:p>
          <a:p>
            <a:r>
              <a:rPr lang="en-US" sz="800" dirty="0">
                <a:solidFill>
                  <a:srgbClr val="C00000"/>
                </a:solidFill>
              </a:rPr>
              <a:t>Hayashi et al. proposed posterior-sampling-based algorithms for both known and unknown distributions of unspecified variables. Unlike conventional BO, these methods explicitly account for uncertainty arising from uncontrollable dimensions when selecting queries. Experimental results on synthetic and real-world datasets demonstrated superior performance relative to baseline approaches that ignore this uncertainty. </a:t>
            </a:r>
            <a:r>
              <a:rPr lang="en-US" sz="800" dirty="0">
                <a:solidFill>
                  <a:srgbClr val="C00000"/>
                </a:solidFill>
                <a:hlinkClick r:id="rId3">
                  <a:extLst>
                    <a:ext uri="{A12FA001-AC4F-418D-AE19-62706E023703}">
                      <ahyp:hlinkClr xmlns:ahyp="http://schemas.microsoft.com/office/drawing/2018/hyperlinkcolor" val="tx"/>
                    </a:ext>
                  </a:extLst>
                </a:hlinkClick>
              </a:rPr>
              <a:t>[link.springer.com]</a:t>
            </a:r>
            <a:r>
              <a:rPr lang="en-US" sz="800" dirty="0">
                <a:solidFill>
                  <a:srgbClr val="C00000"/>
                </a:solidFill>
              </a:rPr>
              <a:t>, </a:t>
            </a:r>
            <a:r>
              <a:rPr lang="en-US" sz="800" dirty="0">
                <a:solidFill>
                  <a:srgbClr val="C00000"/>
                </a:solidFill>
                <a:hlinkClick r:id="rId6">
                  <a:extLst>
                    <a:ext uri="{A12FA001-AC4F-418D-AE19-62706E023703}">
                      <ahyp:hlinkClr xmlns:ahyp="http://schemas.microsoft.com/office/drawing/2018/hyperlinkcolor" val="tx"/>
                    </a:ext>
                  </a:extLst>
                </a:hlinkClick>
              </a:rPr>
              <a:t>[acml-conf.org]</a:t>
            </a:r>
            <a:endParaRPr lang="en-US" sz="800" dirty="0">
              <a:solidFill>
                <a:srgbClr val="C00000"/>
              </a:solidFill>
            </a:endParaRPr>
          </a:p>
          <a:p>
            <a:r>
              <a:rPr lang="en-US" sz="800" b="1" dirty="0">
                <a:solidFill>
                  <a:srgbClr val="C00000"/>
                </a:solidFill>
              </a:rPr>
              <a:t>Theoretical Guarantees</a:t>
            </a:r>
          </a:p>
          <a:p>
            <a:r>
              <a:rPr lang="en-US" sz="800" dirty="0">
                <a:solidFill>
                  <a:srgbClr val="C00000"/>
                </a:solidFill>
              </a:rPr>
              <a:t>An important contribution of BOPSQ is its theoretical framework. The authors derived sublinear regret bounds for common kernel classes, showing that optimization performance improves consistently as more evaluations are collected. These guarantees extend key theoretical properties of classical BO to settings involving partially specified inputs. </a:t>
            </a:r>
            <a:r>
              <a:rPr lang="en-US" sz="800" dirty="0">
                <a:solidFill>
                  <a:srgbClr val="467886"/>
                </a:solidFill>
                <a:hlinkClick r:id="rId3">
                  <a:extLst>
                    <a:ext uri="{A12FA001-AC4F-418D-AE19-62706E023703}">
                      <ahyp:hlinkClr xmlns:ahyp="http://schemas.microsoft.com/office/drawing/2018/hyperlinkcolor" val="tx"/>
                    </a:ext>
                  </a:extLst>
                </a:hlinkClick>
              </a:rPr>
              <a:t>[link.springer.com</a:t>
            </a:r>
            <a:r>
              <a:rPr lang="en-US" sz="800" dirty="0">
                <a:solidFill>
                  <a:srgbClr val="C00000"/>
                </a:solidFill>
                <a:hlinkClick r:id="rId3">
                  <a:extLst>
                    <a:ext uri="{A12FA001-AC4F-418D-AE19-62706E023703}">
                      <ahyp:hlinkClr xmlns:ahyp="http://schemas.microsoft.com/office/drawing/2018/hyperlinkcolor" val="tx"/>
                    </a:ext>
                  </a:extLst>
                </a:hlinkClick>
              </a:rPr>
              <a:t>]</a:t>
            </a:r>
            <a:endParaRPr lang="en-US" sz="800" dirty="0">
              <a:solidFill>
                <a:srgbClr val="C00000"/>
              </a:solidFill>
            </a:endParaRPr>
          </a:p>
        </p:txBody>
      </p:sp>
      <p:sp>
        <p:nvSpPr>
          <p:cNvPr id="6" name="TextBox 5">
            <a:extLst>
              <a:ext uri="{FF2B5EF4-FFF2-40B4-BE49-F238E27FC236}">
                <a16:creationId xmlns:a16="http://schemas.microsoft.com/office/drawing/2014/main" id="{3C5782CC-3F28-170E-9951-1F8D6F81D567}"/>
              </a:ext>
            </a:extLst>
          </p:cNvPr>
          <p:cNvSpPr txBox="1"/>
          <p:nvPr/>
        </p:nvSpPr>
        <p:spPr>
          <a:xfrm>
            <a:off x="325922" y="323281"/>
            <a:ext cx="11405937" cy="307777"/>
          </a:xfrm>
          <a:prstGeom prst="rect">
            <a:avLst/>
          </a:prstGeom>
          <a:noFill/>
        </p:spPr>
        <p:txBody>
          <a:bodyPr wrap="square" rtlCol="0">
            <a:spAutoFit/>
          </a:bodyPr>
          <a:lstStyle/>
          <a:p>
            <a:r>
              <a:rPr lang="en-US" sz="1400" b="1" dirty="0"/>
              <a:t>Query: write a summary about 'High-dimensional and partially specified Bayesian Optimization' backed by literature. (GPT response)</a:t>
            </a:r>
          </a:p>
        </p:txBody>
      </p:sp>
    </p:spTree>
    <p:extLst>
      <p:ext uri="{BB962C8B-B14F-4D97-AF65-F5344CB8AC3E}">
        <p14:creationId xmlns:p14="http://schemas.microsoft.com/office/powerpoint/2010/main" val="82003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1959-CC92-B079-BF62-88A06CB873D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0196B4-5935-28E3-013A-4E12D2C75BEC}"/>
              </a:ext>
            </a:extLst>
          </p:cNvPr>
          <p:cNvSpPr txBox="1"/>
          <p:nvPr/>
        </p:nvSpPr>
        <p:spPr>
          <a:xfrm>
            <a:off x="431800" y="297373"/>
            <a:ext cx="11328400" cy="6263253"/>
          </a:xfrm>
          <a:prstGeom prst="rect">
            <a:avLst/>
          </a:prstGeom>
          <a:noFill/>
        </p:spPr>
        <p:txBody>
          <a:bodyPr wrap="square" rtlCol="0">
            <a:spAutoFit/>
          </a:bodyPr>
          <a:lstStyle/>
          <a:p>
            <a:r>
              <a:rPr lang="en-US" sz="1100" b="1" dirty="0"/>
              <a:t>Related Extensions</a:t>
            </a:r>
            <a:endParaRPr lang="en-US" sz="400" dirty="0">
              <a:effectLst/>
            </a:endParaRPr>
          </a:p>
          <a:p>
            <a:r>
              <a:rPr lang="en-US" sz="1100" dirty="0"/>
              <a:t>Recent work has expanded the notion of partial specification to broader forms of incomplete information.</a:t>
            </a:r>
            <a:endParaRPr lang="en-US" sz="400" dirty="0">
              <a:effectLst/>
            </a:endParaRPr>
          </a:p>
          <a:p>
            <a:r>
              <a:rPr lang="en-US" sz="1100" b="1" dirty="0"/>
              <a:t>Partial Observations and Constraints</a:t>
            </a:r>
            <a:endParaRPr lang="en-US" sz="400" dirty="0">
              <a:effectLst/>
            </a:endParaRPr>
          </a:p>
          <a:p>
            <a:r>
              <a:rPr lang="en-US" sz="1100" dirty="0"/>
              <a:t>In constrained optimization settings, infeasible evaluations may reveal only limited information about objectives and constraints. Wang and Li (2024) proposed a constrained BO framework for partially observable problems that combines improved acquisition functions with Gaussian process models tailored to partially observed constraint information. Their method provides both convergence guarantees and empirical improvements over existing approaches. </a:t>
            </a:r>
            <a:r>
              <a:rPr lang="en-US" sz="1100" dirty="0">
                <a:hlinkClick r:id="rId2"/>
              </a:rPr>
              <a:t>[arxiv.org]</a:t>
            </a:r>
            <a:endParaRPr lang="en-US" sz="400" dirty="0">
              <a:effectLst/>
            </a:endParaRPr>
          </a:p>
          <a:p>
            <a:r>
              <a:rPr lang="en-US" sz="1100" b="1" dirty="0"/>
              <a:t>Partially Known Physical Systems</a:t>
            </a:r>
            <a:endParaRPr lang="en-US" sz="400" dirty="0">
              <a:effectLst/>
            </a:endParaRPr>
          </a:p>
          <a:p>
            <a:r>
              <a:rPr lang="en-US" sz="1100" dirty="0"/>
              <a:t>Another emerging direction integrates Bayesian optimization with mechanistic scientific models. Hybrid BO frameworks combine known physics-based equations with Gaussian process models that learn unknown system components. This strategy allows BO to leverage prior scientific knowledge while still adapting to data. Recent studies have shown substantial improvements in optimization efficiency and convergence speed for engineering process optimization problems. </a:t>
            </a:r>
            <a:r>
              <a:rPr lang="en-US" sz="1100" dirty="0">
                <a:hlinkClick r:id="rId3"/>
              </a:rPr>
              <a:t>[arxiv.org]</a:t>
            </a:r>
            <a:endParaRPr lang="en-US" sz="400" dirty="0">
              <a:effectLst/>
            </a:endParaRPr>
          </a:p>
          <a:p>
            <a:br>
              <a:rPr lang="en-US" sz="1100" dirty="0"/>
            </a:br>
            <a:endParaRPr lang="en-US" sz="400" dirty="0">
              <a:effectLst/>
            </a:endParaRPr>
          </a:p>
          <a:p>
            <a:r>
              <a:rPr lang="en-US" sz="1100" b="1" dirty="0"/>
              <a:t>Intersection of High-Dimensional and Partially Specified BO</a:t>
            </a:r>
            <a:endParaRPr lang="en-US" sz="400" dirty="0">
              <a:effectLst/>
            </a:endParaRPr>
          </a:p>
          <a:p>
            <a:r>
              <a:rPr lang="en-US" sz="1100" dirty="0"/>
              <a:t>The challenges of high dimensionality and partial specification often occur simultaneously. Industrial processes, large-scale machine learning systems, robotics platforms, and scientific experiments frequently involve hundreds of potential variables, many of which are either unobservable, uncontrollable, or only partially specified. </a:t>
            </a:r>
            <a:r>
              <a:rPr lang="en-US" sz="1100" dirty="0">
                <a:hlinkClick r:id="rId4"/>
              </a:rPr>
              <a:t>[arxiv.org]</a:t>
            </a:r>
            <a:r>
              <a:rPr lang="en-US" sz="1100" dirty="0"/>
              <a:t>, </a:t>
            </a:r>
            <a:r>
              <a:rPr lang="en-US" sz="1100" dirty="0">
                <a:hlinkClick r:id="rId5"/>
              </a:rPr>
              <a:t>[link.springer.com]</a:t>
            </a:r>
            <a:endParaRPr lang="en-US" sz="400" dirty="0">
              <a:effectLst/>
            </a:endParaRPr>
          </a:p>
          <a:p>
            <a:r>
              <a:rPr lang="en-US" sz="1100" dirty="0"/>
              <a:t>Conceptually, both research directions aim to address </a:t>
            </a:r>
            <a:r>
              <a:rPr lang="en-US" sz="1100" b="1" dirty="0"/>
              <a:t>incomplete access to the effective optimization space</a:t>
            </a:r>
            <a:r>
              <a:rPr lang="en-US" sz="1100" dirty="0"/>
              <a:t>:</a:t>
            </a:r>
            <a:endParaRPr lang="en-US" sz="400" dirty="0">
              <a:effectLst/>
            </a:endParaRPr>
          </a:p>
          <a:p>
            <a:r>
              <a:rPr lang="en-US" sz="1100" dirty="0"/>
              <a:t>High-dimensional BO assumes that only a small subset of dimensions truly matters for optimization. </a:t>
            </a:r>
            <a:r>
              <a:rPr lang="en-US" sz="1100" dirty="0">
                <a:hlinkClick r:id="rId4"/>
              </a:rPr>
              <a:t>[arxiv.org]</a:t>
            </a:r>
            <a:r>
              <a:rPr lang="en-US" sz="1100" dirty="0"/>
              <a:t>, </a:t>
            </a:r>
            <a:r>
              <a:rPr lang="en-US" sz="1100" dirty="0">
                <a:hlinkClick r:id="rId6"/>
              </a:rPr>
              <a:t>[proceeding....</a:t>
            </a:r>
            <a:r>
              <a:rPr lang="en-US" sz="1100" dirty="0" err="1">
                <a:hlinkClick r:id="rId6"/>
              </a:rPr>
              <a:t>mlr.press</a:t>
            </a:r>
            <a:r>
              <a:rPr lang="en-US" sz="1100" dirty="0">
                <a:hlinkClick r:id="rId6"/>
              </a:rPr>
              <a:t>]</a:t>
            </a:r>
            <a:endParaRPr lang="en-US" sz="400" dirty="0">
              <a:effectLst/>
            </a:endParaRPr>
          </a:p>
          <a:p>
            <a:r>
              <a:rPr lang="en-US" sz="1100" dirty="0"/>
              <a:t>Partially specified BO assumes that some dimensions cannot be directly controlled and must be treated probabilistically. </a:t>
            </a:r>
            <a:r>
              <a:rPr lang="en-US" sz="1100" dirty="0">
                <a:hlinkClick r:id="rId5"/>
              </a:rPr>
              <a:t>[link.springer.com]</a:t>
            </a:r>
            <a:r>
              <a:rPr lang="en-US" sz="1100" dirty="0"/>
              <a:t>, </a:t>
            </a:r>
            <a:r>
              <a:rPr lang="en-US" sz="1100" dirty="0">
                <a:hlinkClick r:id="rId7"/>
              </a:rPr>
              <a:t>[acml-conf.org]</a:t>
            </a:r>
            <a:endParaRPr lang="en-US" sz="400" dirty="0">
              <a:effectLst/>
            </a:endParaRPr>
          </a:p>
          <a:p>
            <a:r>
              <a:rPr lang="en-US" sz="1100" dirty="0"/>
              <a:t>As a result, current research increasingly focuses on:</a:t>
            </a:r>
            <a:endParaRPr lang="en-US" sz="400" dirty="0">
              <a:effectLst/>
            </a:endParaRPr>
          </a:p>
          <a:p>
            <a:r>
              <a:rPr lang="en-US" sz="1100" dirty="0"/>
              <a:t>Learning low-dimensional latent representations.</a:t>
            </a:r>
            <a:endParaRPr lang="en-US" sz="400" dirty="0">
              <a:effectLst/>
            </a:endParaRPr>
          </a:p>
          <a:p>
            <a:r>
              <a:rPr lang="en-US" sz="1100" dirty="0"/>
              <a:t>Identifying relevant variables automatically.</a:t>
            </a:r>
            <a:endParaRPr lang="en-US" sz="400" dirty="0">
              <a:effectLst/>
            </a:endParaRPr>
          </a:p>
          <a:p>
            <a:r>
              <a:rPr lang="en-US" sz="1100" dirty="0"/>
              <a:t>Modeling uncertainty over hidden or uncontrollable inputs.</a:t>
            </a:r>
            <a:endParaRPr lang="en-US" sz="400" dirty="0">
              <a:effectLst/>
            </a:endParaRPr>
          </a:p>
          <a:p>
            <a:r>
              <a:rPr lang="en-US" sz="1100" dirty="0"/>
              <a:t>Developing scalable acquisition functions that remain tractable in large search spaces. </a:t>
            </a:r>
            <a:r>
              <a:rPr lang="en-US" sz="1100" dirty="0">
                <a:hlinkClick r:id="rId8"/>
              </a:rPr>
              <a:t>[arxiv.org]</a:t>
            </a:r>
            <a:r>
              <a:rPr lang="en-US" sz="1100" dirty="0"/>
              <a:t>, </a:t>
            </a:r>
            <a:r>
              <a:rPr lang="en-US" sz="1100" dirty="0">
                <a:hlinkClick r:id="rId6"/>
              </a:rPr>
              <a:t>[proceeding....</a:t>
            </a:r>
            <a:r>
              <a:rPr lang="en-US" sz="1100" dirty="0" err="1">
                <a:hlinkClick r:id="rId6"/>
              </a:rPr>
              <a:t>mlr.press</a:t>
            </a:r>
            <a:r>
              <a:rPr lang="en-US" sz="1100" dirty="0">
                <a:hlinkClick r:id="rId6"/>
              </a:rPr>
              <a:t>]</a:t>
            </a:r>
            <a:r>
              <a:rPr lang="en-US" sz="1100" dirty="0"/>
              <a:t>, </a:t>
            </a:r>
            <a:r>
              <a:rPr lang="en-US" sz="1100" dirty="0">
                <a:hlinkClick r:id="rId5"/>
              </a:rPr>
              <a:t>[link.springer.com]</a:t>
            </a:r>
            <a:endParaRPr lang="en-US" sz="400" dirty="0">
              <a:effectLst/>
            </a:endParaRPr>
          </a:p>
          <a:p>
            <a:br>
              <a:rPr lang="en-US" sz="1100" dirty="0"/>
            </a:br>
            <a:endParaRPr lang="en-US" sz="400" dirty="0">
              <a:effectLst/>
            </a:endParaRPr>
          </a:p>
          <a:p>
            <a:r>
              <a:rPr lang="en-US" sz="1100" b="1" dirty="0"/>
              <a:t>Conclusion</a:t>
            </a:r>
            <a:endParaRPr lang="en-US" sz="400" dirty="0">
              <a:effectLst/>
            </a:endParaRPr>
          </a:p>
          <a:p>
            <a:r>
              <a:rPr lang="en-US" sz="1100" dirty="0"/>
              <a:t>High-dimensional and partially specified Bayesian Optimization represent two major extensions of classical BO that improve its applicability to realistic optimization problems. High-dimensional BO addresses the curse of dimensionality through embeddings, active subspaces, additive structures, local-search strategies, and variable selection techniques. Partially specified BO generalizes the optimization framework to scenarios where only a subset of input variables can be controlled, treating remaining variables probabilistically. Together, these advances are enabling Bayesian optimization to tackle increasingly complex scientific, engineering, and machine-learning applications characterized by large search spaces, uncertainty, and limited controllability. </a:t>
            </a:r>
            <a:r>
              <a:rPr lang="en-US" sz="1100" dirty="0">
                <a:hlinkClick r:id="rId8"/>
              </a:rPr>
              <a:t>[arxiv.org]</a:t>
            </a:r>
            <a:r>
              <a:rPr lang="en-US" sz="1100" dirty="0"/>
              <a:t>, </a:t>
            </a:r>
            <a:r>
              <a:rPr lang="en-US" sz="1100" dirty="0">
                <a:hlinkClick r:id="rId6"/>
              </a:rPr>
              <a:t>[proceeding....</a:t>
            </a:r>
            <a:r>
              <a:rPr lang="en-US" sz="1100" dirty="0" err="1">
                <a:hlinkClick r:id="rId6"/>
              </a:rPr>
              <a:t>mlr.press</a:t>
            </a:r>
            <a:r>
              <a:rPr lang="en-US" sz="1100" dirty="0">
                <a:hlinkClick r:id="rId6"/>
              </a:rPr>
              <a:t>]</a:t>
            </a:r>
            <a:r>
              <a:rPr lang="en-US" sz="1100" dirty="0"/>
              <a:t>, </a:t>
            </a:r>
            <a:r>
              <a:rPr lang="en-US" sz="1100" dirty="0">
                <a:hlinkClick r:id="rId5"/>
              </a:rPr>
              <a:t>[link.springer.com]</a:t>
            </a:r>
            <a:r>
              <a:rPr lang="en-US" sz="1100" dirty="0"/>
              <a:t>, </a:t>
            </a:r>
            <a:r>
              <a:rPr lang="en-US" sz="1100" dirty="0">
                <a:hlinkClick r:id="rId7"/>
              </a:rPr>
              <a:t>[acml-conf.org]</a:t>
            </a:r>
            <a:endParaRPr lang="en-US" sz="400" dirty="0">
              <a:effectLst/>
            </a:endParaRPr>
          </a:p>
          <a:p>
            <a:r>
              <a:rPr lang="en-US" sz="1100" b="1" dirty="0"/>
              <a:t>Key References</a:t>
            </a:r>
            <a:endParaRPr lang="en-US" sz="400" dirty="0">
              <a:effectLst/>
            </a:endParaRPr>
          </a:p>
          <a:p>
            <a:r>
              <a:rPr lang="en-US" sz="1100" dirty="0">
                <a:solidFill>
                  <a:srgbClr val="C00000"/>
                </a:solidFill>
              </a:rPr>
              <a:t>Hayashi, S., Honda, J., &amp; Kashima, H. (2022). </a:t>
            </a:r>
            <a:r>
              <a:rPr lang="en-US" sz="1100" i="1" dirty="0">
                <a:solidFill>
                  <a:srgbClr val="C00000"/>
                </a:solidFill>
              </a:rPr>
              <a:t>Bayesian Optimization with Partially Specified Queries</a:t>
            </a:r>
            <a:r>
              <a:rPr lang="en-US" sz="1100" dirty="0">
                <a:solidFill>
                  <a:srgbClr val="C00000"/>
                </a:solidFill>
              </a:rPr>
              <a:t>. Machine Learning. </a:t>
            </a:r>
            <a:r>
              <a:rPr lang="en-US" sz="1100" dirty="0">
                <a:solidFill>
                  <a:srgbClr val="C00000"/>
                </a:solidFill>
                <a:hlinkClick r:id="rId9">
                  <a:extLst>
                    <a:ext uri="{A12FA001-AC4F-418D-AE19-62706E023703}">
                      <ahyp:hlinkClr xmlns:ahyp="http://schemas.microsoft.com/office/drawing/2018/hyperlinkcolor" val="tx"/>
                    </a:ext>
                  </a:extLst>
                </a:hlinkClick>
              </a:rPr>
              <a:t>[link.springer.com]</a:t>
            </a:r>
            <a:r>
              <a:rPr lang="en-US" sz="1100" dirty="0">
                <a:solidFill>
                  <a:srgbClr val="C00000"/>
                </a:solidFill>
              </a:rPr>
              <a:t>, </a:t>
            </a:r>
            <a:r>
              <a:rPr lang="en-US" sz="1100" dirty="0">
                <a:solidFill>
                  <a:srgbClr val="C00000"/>
                </a:solidFill>
                <a:hlinkClick r:id="rId5">
                  <a:extLst>
                    <a:ext uri="{A12FA001-AC4F-418D-AE19-62706E023703}">
                      <ahyp:hlinkClr xmlns:ahyp="http://schemas.microsoft.com/office/drawing/2018/hyperlinkcolor" val="tx"/>
                    </a:ext>
                  </a:extLst>
                </a:hlinkClick>
              </a:rPr>
              <a:t>[link.springer.com]</a:t>
            </a:r>
            <a:endParaRPr lang="en-US" sz="400" dirty="0">
              <a:solidFill>
                <a:srgbClr val="C00000"/>
              </a:solidFill>
              <a:effectLst/>
            </a:endParaRPr>
          </a:p>
          <a:p>
            <a:r>
              <a:rPr lang="en-US" sz="1100" dirty="0" err="1"/>
              <a:t>Papenmeier</a:t>
            </a:r>
            <a:r>
              <a:rPr lang="en-US" sz="1100" dirty="0"/>
              <a:t>, L., Poloczek, M., &amp; Nardi, L. (2025). </a:t>
            </a:r>
            <a:r>
              <a:rPr lang="en-US" sz="1100" i="1" dirty="0"/>
              <a:t>Understanding High-Dimensional Bayesian Optimization</a:t>
            </a:r>
            <a:r>
              <a:rPr lang="en-US" sz="1100" dirty="0"/>
              <a:t>. ICML 2025. </a:t>
            </a:r>
            <a:r>
              <a:rPr lang="en-US" sz="1100" dirty="0">
                <a:hlinkClick r:id="rId8"/>
              </a:rPr>
              <a:t>[arxiv.org]</a:t>
            </a:r>
            <a:r>
              <a:rPr lang="en-US" sz="1100" dirty="0"/>
              <a:t>, </a:t>
            </a:r>
            <a:r>
              <a:rPr lang="en-US" sz="1100" dirty="0">
                <a:hlinkClick r:id="rId4"/>
              </a:rPr>
              <a:t>[arxiv.org]</a:t>
            </a:r>
            <a:endParaRPr lang="en-US" sz="400" dirty="0">
              <a:effectLst/>
            </a:endParaRPr>
          </a:p>
          <a:p>
            <a:r>
              <a:rPr lang="en-US" sz="1100" dirty="0"/>
              <a:t>Hoang, V. V., Tran, H. T., Gupta, S., &amp; Nguyen, V. (2025). </a:t>
            </a:r>
            <a:r>
              <a:rPr lang="en-US" sz="1100" i="1" dirty="0"/>
              <a:t>High Dimensional Bayesian Optimization using Lasso Variable Selection</a:t>
            </a:r>
            <a:r>
              <a:rPr lang="en-US" sz="1100" dirty="0"/>
              <a:t>. AISTATS 2025. </a:t>
            </a:r>
            <a:r>
              <a:rPr lang="en-US" sz="1100" dirty="0">
                <a:hlinkClick r:id="rId6"/>
              </a:rPr>
              <a:t>[proceeding....</a:t>
            </a:r>
            <a:r>
              <a:rPr lang="en-US" sz="1100" dirty="0" err="1">
                <a:hlinkClick r:id="rId6"/>
              </a:rPr>
              <a:t>mlr.press</a:t>
            </a:r>
            <a:r>
              <a:rPr lang="en-US" sz="1100" dirty="0">
                <a:hlinkClick r:id="rId6"/>
              </a:rPr>
              <a:t>]</a:t>
            </a:r>
            <a:endParaRPr lang="en-US" sz="400" dirty="0">
              <a:effectLst/>
            </a:endParaRPr>
          </a:p>
          <a:p>
            <a:r>
              <a:rPr lang="en-US" sz="1100" dirty="0"/>
              <a:t>González-Duque, M. et al. (2024). </a:t>
            </a:r>
            <a:r>
              <a:rPr lang="en-US" sz="1100" i="1" dirty="0"/>
              <a:t>A Survey and Benchmark of High-Dimensional Bayesian Optimization of Discrete Sequences</a:t>
            </a:r>
            <a:r>
              <a:rPr lang="en-US" sz="1100" dirty="0"/>
              <a:t>. </a:t>
            </a:r>
            <a:r>
              <a:rPr lang="en-US" sz="1100" dirty="0" err="1"/>
              <a:t>NeurIPS</a:t>
            </a:r>
            <a:r>
              <a:rPr lang="en-US" sz="1100" dirty="0"/>
              <a:t> 2024. </a:t>
            </a:r>
            <a:r>
              <a:rPr lang="en-US" sz="1100" dirty="0">
                <a:hlinkClick r:id="rId10"/>
              </a:rPr>
              <a:t>[papers.nips.cc]</a:t>
            </a:r>
            <a:endParaRPr lang="en-US" sz="400" dirty="0">
              <a:effectLst/>
            </a:endParaRPr>
          </a:p>
          <a:p>
            <a:r>
              <a:rPr lang="en-US" sz="1100" dirty="0"/>
              <a:t>Wang, S., &amp; Li, K. (2024). </a:t>
            </a:r>
            <a:r>
              <a:rPr lang="en-US" sz="1100" i="1" dirty="0"/>
              <a:t>Constrained Bayesian Optimization under Partial Observations: Balanced Improvements and Provable Convergence</a:t>
            </a:r>
            <a:r>
              <a:rPr lang="en-US" sz="1100" dirty="0"/>
              <a:t>. AAAI 2024. </a:t>
            </a:r>
            <a:r>
              <a:rPr lang="en-US" sz="1100" dirty="0">
                <a:hlinkClick r:id="rId2"/>
              </a:rPr>
              <a:t>[arxiv.org]</a:t>
            </a:r>
            <a:endParaRPr lang="en-US" sz="400" dirty="0">
              <a:effectLst/>
            </a:endParaRPr>
          </a:p>
          <a:p>
            <a:endParaRPr lang="en-US" sz="100" dirty="0"/>
          </a:p>
        </p:txBody>
      </p:sp>
    </p:spTree>
    <p:extLst>
      <p:ext uri="{BB962C8B-B14F-4D97-AF65-F5344CB8AC3E}">
        <p14:creationId xmlns:p14="http://schemas.microsoft.com/office/powerpoint/2010/main" val="1011866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A94B3-B563-9B4A-210F-CE60E8EE7CE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57D09FD-A815-4362-29C8-40A94CFFABFF}"/>
              </a:ext>
            </a:extLst>
          </p:cNvPr>
          <p:cNvSpPr txBox="1"/>
          <p:nvPr/>
        </p:nvSpPr>
        <p:spPr>
          <a:xfrm>
            <a:off x="431800" y="297373"/>
            <a:ext cx="11328400" cy="2308324"/>
          </a:xfrm>
          <a:prstGeom prst="rect">
            <a:avLst/>
          </a:prstGeom>
          <a:noFill/>
        </p:spPr>
        <p:txBody>
          <a:bodyPr wrap="square" rtlCol="0">
            <a:spAutoFit/>
          </a:bodyPr>
          <a:lstStyle/>
          <a:p>
            <a:r>
              <a:rPr lang="en-US" sz="2400" dirty="0"/>
              <a:t>To Do:</a:t>
            </a:r>
          </a:p>
          <a:p>
            <a:endParaRPr lang="en-US" sz="2400" dirty="0"/>
          </a:p>
          <a:p>
            <a:pPr marL="514350" indent="-514350">
              <a:buAutoNum type="arabicPeriod"/>
            </a:pPr>
            <a:r>
              <a:rPr lang="en-US" sz="2400" dirty="0"/>
              <a:t>To extend the benchmark with Open Ended Questions.</a:t>
            </a:r>
          </a:p>
          <a:p>
            <a:pPr marL="514350" indent="-514350">
              <a:buAutoNum type="arabicPeriod"/>
            </a:pPr>
            <a:r>
              <a:rPr lang="en-US" sz="2400" dirty="0"/>
              <a:t>Design the reward model to identify the target span.</a:t>
            </a:r>
          </a:p>
          <a:p>
            <a:pPr marL="514350" indent="-514350">
              <a:buAutoNum type="arabicPeriod"/>
            </a:pPr>
            <a:r>
              <a:rPr lang="en-US" sz="2400" dirty="0"/>
              <a:t>To implement the GRPO Algorithm.</a:t>
            </a:r>
          </a:p>
          <a:p>
            <a:pPr marL="514350" indent="-514350">
              <a:buAutoNum type="arabicPeriod"/>
            </a:pPr>
            <a:r>
              <a:rPr lang="en-US" sz="2400" dirty="0"/>
              <a:t>Design the evaluation strategy.</a:t>
            </a:r>
          </a:p>
        </p:txBody>
      </p:sp>
    </p:spTree>
    <p:extLst>
      <p:ext uri="{BB962C8B-B14F-4D97-AF65-F5344CB8AC3E}">
        <p14:creationId xmlns:p14="http://schemas.microsoft.com/office/powerpoint/2010/main" val="351542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DB83B-3C01-9E16-C494-A7EF7B7F1F8B}"/>
            </a:ext>
          </a:extLst>
        </p:cNvPr>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228600" tIns="137160" rIns="228600" bIns="137160" anchor="t">
            <a:normAutofit fontScale="85000" lnSpcReduction="20000"/>
          </a:bodyPr>
          <a:lstStyle/>
          <a:p>
            <a:pPr marL="0" indent="0" algn="l">
              <a:lnSpc>
                <a:spcPct val="100000"/>
              </a:lnSpc>
              <a:spcBef>
                <a:spcPts val="0"/>
              </a:spcBef>
              <a:buNone/>
            </a:pPr>
            <a:r>
              <a:rPr lang="en-US" sz="2800" b="1" dirty="0">
                <a:solidFill>
                  <a:srgbClr val="0E2841"/>
                </a:solidFill>
                <a:latin typeface="Aptos"/>
              </a:rPr>
              <a:t>Planned Tasks: Three Benchmark Buckets</a:t>
            </a:r>
          </a:p>
        </p:txBody>
      </p:sp>
      <p:sp>
        <p:nvSpPr>
          <p:cNvPr id="11" name="Rule"/>
          <p:cNvSpPr/>
          <p:nvPr/>
        </p:nvSpPr>
        <p:spPr>
          <a:xfrm>
            <a:off x="431800" y="1080000"/>
            <a:ext cx="11328400" cy="27432"/>
          </a:xfrm>
          <a:prstGeom prst="rect">
            <a:avLst/>
          </a:prstGeom>
          <a:solidFill>
            <a:srgbClr val="0E2841"/>
          </a:solidFill>
          <a:ln>
            <a:noFill/>
          </a:ln>
        </p:spPr>
        <p:txBody>
          <a:bodyPr lIns="228600" tIns="137160" rIns="228600" bIns="137160" anchor="t">
            <a:normAutofit fontScale="25000" lnSpcReduction="20000"/>
          </a:bodyPr>
          <a:lstStyle/>
          <a:p>
            <a:endParaRPr/>
          </a:p>
        </p:txBody>
      </p:sp>
      <p:sp>
        <p:nvSpPr>
          <p:cNvPr id="12" name="Head1"/>
          <p:cNvSpPr/>
          <p:nvPr/>
        </p:nvSpPr>
        <p:spPr>
          <a:xfrm>
            <a:off x="431800" y="1560000"/>
            <a:ext cx="3480000" cy="900000"/>
          </a:xfrm>
          <a:prstGeom prst="rect">
            <a:avLst/>
          </a:prstGeom>
          <a:solidFill>
            <a:srgbClr val="156082"/>
          </a:solidFill>
          <a:ln>
            <a:noFill/>
          </a:ln>
        </p:spPr>
        <p:txBody>
          <a:bodyPr lIns="228600" tIns="137160" rIns="228600" bIns="137160" anchor="ctr">
            <a:normAutofit fontScale="92500" lnSpcReduction="20000"/>
          </a:bodyPr>
          <a:lstStyle/>
          <a:p>
            <a:pPr marL="0" indent="0" algn="l">
              <a:lnSpc>
                <a:spcPct val="100000"/>
              </a:lnSpc>
              <a:spcBef>
                <a:spcPts val="0"/>
              </a:spcBef>
              <a:buNone/>
            </a:pPr>
            <a:r>
              <a:rPr lang="en-US" sz="1100" b="1" dirty="0">
                <a:solidFill>
                  <a:srgbClr val="FFFFFF"/>
                </a:solidFill>
                <a:latin typeface="Aptos"/>
              </a:rPr>
              <a:t>BUCKET 1</a:t>
            </a:r>
          </a:p>
          <a:p>
            <a:pPr marL="0" indent="0" algn="l">
              <a:lnSpc>
                <a:spcPct val="100000"/>
              </a:lnSpc>
              <a:spcBef>
                <a:spcPts val="400"/>
              </a:spcBef>
              <a:buNone/>
            </a:pPr>
            <a:r>
              <a:rPr lang="en-US" sz="1800" b="1" dirty="0">
                <a:solidFill>
                  <a:srgbClr val="FFFFFF"/>
                </a:solidFill>
                <a:latin typeface="Aptos"/>
              </a:rPr>
              <a:t>Short-Form QA (Binary Classification)</a:t>
            </a:r>
          </a:p>
        </p:txBody>
      </p:sp>
      <p:sp>
        <p:nvSpPr>
          <p:cNvPr id="13" name="Body1"/>
          <p:cNvSpPr/>
          <p:nvPr/>
        </p:nvSpPr>
        <p:spPr>
          <a:xfrm>
            <a:off x="431800" y="2460000"/>
            <a:ext cx="3480000" cy="2400000"/>
          </a:xfrm>
          <a:prstGeom prst="rect">
            <a:avLst/>
          </a:prstGeom>
          <a:solidFill>
            <a:srgbClr val="F4F6F8"/>
          </a:solidFill>
          <a:ln w="12700">
            <a:solidFill>
              <a:srgbClr val="D9DEE3"/>
            </a:solidFill>
          </a:ln>
        </p:spPr>
        <p:txBody>
          <a:bodyPr lIns="228600" tIns="137160" rIns="228600" bIns="137160" anchor="t">
            <a:normAutofit/>
          </a:bodyPr>
          <a:lstStyle/>
          <a:p>
            <a:pPr marL="228600" indent="-228600" algn="l">
              <a:lnSpc>
                <a:spcPct val="100000"/>
              </a:lnSpc>
              <a:spcBef>
                <a:spcPts val="700"/>
              </a:spcBef>
              <a:buFont typeface="Arial"/>
              <a:buChar char="•"/>
            </a:pPr>
            <a:r>
              <a:rPr lang="en-US" sz="1400" b="0" dirty="0">
                <a:solidFill>
                  <a:srgbClr val="0E2841"/>
                </a:solidFill>
                <a:latin typeface="Aptos"/>
              </a:rPr>
              <a:t>Multiple-choice questions</a:t>
            </a:r>
          </a:p>
          <a:p>
            <a:pPr marL="228600" indent="-228600" algn="l">
              <a:lnSpc>
                <a:spcPct val="100000"/>
              </a:lnSpc>
              <a:spcBef>
                <a:spcPts val="700"/>
              </a:spcBef>
              <a:buFont typeface="Arial"/>
              <a:buChar char="•"/>
            </a:pPr>
            <a:r>
              <a:rPr lang="en-US" sz="1400" b="0" dirty="0">
                <a:solidFill>
                  <a:srgbClr val="0E2841"/>
                </a:solidFill>
                <a:latin typeface="Aptos"/>
              </a:rPr>
              <a:t>True / false</a:t>
            </a:r>
          </a:p>
          <a:p>
            <a:pPr marL="228600" indent="-228600" algn="l">
              <a:lnSpc>
                <a:spcPct val="100000"/>
              </a:lnSpc>
              <a:spcBef>
                <a:spcPts val="700"/>
              </a:spcBef>
              <a:buFont typeface="Arial"/>
              <a:buChar char="•"/>
            </a:pPr>
            <a:r>
              <a:rPr lang="en-US" sz="1400" b="0" dirty="0">
                <a:solidFill>
                  <a:srgbClr val="0E2841"/>
                </a:solidFill>
                <a:latin typeface="Aptos"/>
              </a:rPr>
              <a:t>Fill in the blanks (with options)</a:t>
            </a:r>
          </a:p>
          <a:p>
            <a:pPr marL="228600" indent="-228600" algn="l">
              <a:lnSpc>
                <a:spcPct val="100000"/>
              </a:lnSpc>
              <a:spcBef>
                <a:spcPts val="700"/>
              </a:spcBef>
              <a:buFont typeface="Arial"/>
              <a:buChar char="•"/>
            </a:pPr>
            <a:r>
              <a:rPr lang="en-US" sz="1400" b="0" dirty="0">
                <a:solidFill>
                  <a:srgbClr val="0E2841"/>
                </a:solidFill>
                <a:latin typeface="Aptos"/>
              </a:rPr>
              <a:t>Assertion - reason</a:t>
            </a:r>
          </a:p>
          <a:p>
            <a:pPr marL="0" indent="0" algn="l">
              <a:lnSpc>
                <a:spcPct val="100000"/>
              </a:lnSpc>
              <a:spcBef>
                <a:spcPts val="1200"/>
              </a:spcBef>
              <a:buNone/>
            </a:pPr>
            <a:r>
              <a:rPr lang="en-US" sz="1000" b="1" dirty="0">
                <a:solidFill>
                  <a:srgbClr val="156082"/>
                </a:solidFill>
                <a:latin typeface="Aptos"/>
              </a:rPr>
              <a:t>Status: planned</a:t>
            </a:r>
          </a:p>
        </p:txBody>
      </p:sp>
      <p:sp>
        <p:nvSpPr>
          <p:cNvPr id="14" name="Head2"/>
          <p:cNvSpPr/>
          <p:nvPr/>
        </p:nvSpPr>
        <p:spPr>
          <a:xfrm>
            <a:off x="4331800" y="1560000"/>
            <a:ext cx="3480000" cy="900000"/>
          </a:xfrm>
          <a:prstGeom prst="rect">
            <a:avLst/>
          </a:prstGeom>
          <a:solidFill>
            <a:srgbClr val="0F9ED5"/>
          </a:solidFill>
          <a:ln>
            <a:noFill/>
          </a:ln>
        </p:spPr>
        <p:txBody>
          <a:bodyPr lIns="228600" tIns="137160" rIns="228600" bIns="137160" anchor="ctr">
            <a:normAutofit fontScale="92500" lnSpcReduction="20000"/>
          </a:bodyPr>
          <a:lstStyle/>
          <a:p>
            <a:pPr marL="0" indent="0" algn="l">
              <a:lnSpc>
                <a:spcPct val="100000"/>
              </a:lnSpc>
              <a:spcBef>
                <a:spcPts val="0"/>
              </a:spcBef>
              <a:buNone/>
            </a:pPr>
            <a:r>
              <a:rPr lang="en-US" sz="1100" b="1" dirty="0">
                <a:solidFill>
                  <a:srgbClr val="FFFFFF"/>
                </a:solidFill>
                <a:latin typeface="Aptos"/>
              </a:rPr>
              <a:t>BUCKET 2</a:t>
            </a:r>
          </a:p>
          <a:p>
            <a:pPr marL="0" indent="0" algn="l">
              <a:lnSpc>
                <a:spcPct val="100000"/>
              </a:lnSpc>
              <a:spcBef>
                <a:spcPts val="400"/>
              </a:spcBef>
              <a:buNone/>
            </a:pPr>
            <a:r>
              <a:rPr lang="en-US" b="1" dirty="0">
                <a:solidFill>
                  <a:srgbClr val="FFFFFF"/>
                </a:solidFill>
                <a:latin typeface="Aptos"/>
              </a:rPr>
              <a:t>Controlled Generation (Span Extraction)</a:t>
            </a:r>
            <a:endParaRPr lang="en-US" sz="1800" b="1" dirty="0">
              <a:solidFill>
                <a:srgbClr val="FFFFFF"/>
              </a:solidFill>
              <a:latin typeface="Aptos"/>
            </a:endParaRPr>
          </a:p>
        </p:txBody>
      </p:sp>
      <p:sp>
        <p:nvSpPr>
          <p:cNvPr id="15" name="Body2"/>
          <p:cNvSpPr/>
          <p:nvPr/>
        </p:nvSpPr>
        <p:spPr>
          <a:xfrm>
            <a:off x="4331800" y="2460000"/>
            <a:ext cx="3480000" cy="2400000"/>
          </a:xfrm>
          <a:prstGeom prst="rect">
            <a:avLst/>
          </a:prstGeom>
          <a:solidFill>
            <a:srgbClr val="F4F6F8"/>
          </a:solidFill>
          <a:ln w="12700">
            <a:solidFill>
              <a:srgbClr val="D9DEE3"/>
            </a:solidFill>
          </a:ln>
        </p:spPr>
        <p:txBody>
          <a:bodyPr lIns="228600" tIns="137160" rIns="228600" bIns="137160" anchor="t">
            <a:normAutofit/>
          </a:bodyPr>
          <a:lstStyle/>
          <a:p>
            <a:pPr marL="228600" indent="-228600" algn="l">
              <a:lnSpc>
                <a:spcPct val="100000"/>
              </a:lnSpc>
              <a:spcBef>
                <a:spcPts val="700"/>
              </a:spcBef>
              <a:buFont typeface="Arial"/>
              <a:buChar char="•"/>
            </a:pPr>
            <a:r>
              <a:rPr lang="en-US" sz="1400" b="0" dirty="0">
                <a:solidFill>
                  <a:srgbClr val="0E2841"/>
                </a:solidFill>
                <a:latin typeface="Aptos"/>
              </a:rPr>
              <a:t>Summarization</a:t>
            </a:r>
          </a:p>
          <a:p>
            <a:pPr marL="228600" indent="-228600" algn="l">
              <a:lnSpc>
                <a:spcPct val="100000"/>
              </a:lnSpc>
              <a:spcBef>
                <a:spcPts val="700"/>
              </a:spcBef>
              <a:buFont typeface="Arial"/>
              <a:buChar char="•"/>
            </a:pPr>
            <a:r>
              <a:rPr lang="en-US" sz="1400" b="0" dirty="0">
                <a:solidFill>
                  <a:srgbClr val="0E2841"/>
                </a:solidFill>
                <a:latin typeface="Aptos"/>
              </a:rPr>
              <a:t>Long-form QA</a:t>
            </a:r>
          </a:p>
          <a:p>
            <a:pPr marL="0" indent="0" algn="l">
              <a:lnSpc>
                <a:spcPct val="100000"/>
              </a:lnSpc>
              <a:spcBef>
                <a:spcPts val="1200"/>
              </a:spcBef>
              <a:buNone/>
            </a:pPr>
            <a:r>
              <a:rPr lang="en-US" sz="1000" b="1" dirty="0">
                <a:solidFill>
                  <a:srgbClr val="0B6E93"/>
                </a:solidFill>
                <a:latin typeface="Aptos"/>
              </a:rPr>
              <a:t>Status: planned</a:t>
            </a:r>
          </a:p>
        </p:txBody>
      </p:sp>
      <p:sp>
        <p:nvSpPr>
          <p:cNvPr id="16" name="Head3"/>
          <p:cNvSpPr/>
          <p:nvPr/>
        </p:nvSpPr>
        <p:spPr>
          <a:xfrm>
            <a:off x="8231800" y="1560000"/>
            <a:ext cx="3480000" cy="900000"/>
          </a:xfrm>
          <a:prstGeom prst="rect">
            <a:avLst/>
          </a:prstGeom>
          <a:solidFill>
            <a:srgbClr val="E97132"/>
          </a:solidFill>
          <a:ln>
            <a:noFill/>
          </a:ln>
        </p:spPr>
        <p:txBody>
          <a:bodyPr lIns="228600" tIns="137160" rIns="228600" bIns="137160" anchor="ctr">
            <a:normAutofit fontScale="92500" lnSpcReduction="20000"/>
          </a:bodyPr>
          <a:lstStyle/>
          <a:p>
            <a:pPr marL="0" indent="0" algn="l">
              <a:lnSpc>
                <a:spcPct val="100000"/>
              </a:lnSpc>
              <a:spcBef>
                <a:spcPts val="0"/>
              </a:spcBef>
              <a:buNone/>
            </a:pPr>
            <a:r>
              <a:rPr lang="en-US" sz="1100" b="1" dirty="0">
                <a:solidFill>
                  <a:srgbClr val="FFFFFF"/>
                </a:solidFill>
                <a:latin typeface="Aptos"/>
              </a:rPr>
              <a:t>BUCKET 3</a:t>
            </a:r>
          </a:p>
          <a:p>
            <a:pPr marL="0" indent="0" algn="l">
              <a:lnSpc>
                <a:spcPct val="100000"/>
              </a:lnSpc>
              <a:spcBef>
                <a:spcPts val="400"/>
              </a:spcBef>
              <a:buNone/>
            </a:pPr>
            <a:r>
              <a:rPr lang="en-US" sz="1800" b="1" dirty="0">
                <a:solidFill>
                  <a:srgbClr val="FFFFFF"/>
                </a:solidFill>
                <a:latin typeface="Aptos"/>
              </a:rPr>
              <a:t>Open Ended Generation (Entailment)</a:t>
            </a:r>
          </a:p>
        </p:txBody>
      </p:sp>
      <p:sp>
        <p:nvSpPr>
          <p:cNvPr id="17" name="Body3"/>
          <p:cNvSpPr/>
          <p:nvPr/>
        </p:nvSpPr>
        <p:spPr>
          <a:xfrm>
            <a:off x="8231800" y="2460000"/>
            <a:ext cx="3480000" cy="2400000"/>
          </a:xfrm>
          <a:prstGeom prst="rect">
            <a:avLst/>
          </a:prstGeom>
          <a:solidFill>
            <a:srgbClr val="F4F6F8"/>
          </a:solidFill>
          <a:ln w="12700">
            <a:solidFill>
              <a:srgbClr val="D9DEE3"/>
            </a:solidFill>
          </a:ln>
        </p:spPr>
        <p:txBody>
          <a:bodyPr lIns="228600" tIns="137160" rIns="228600" bIns="137160" anchor="t">
            <a:normAutofit/>
          </a:bodyPr>
          <a:lstStyle/>
          <a:p>
            <a:pPr marL="228600" indent="-228600" algn="l">
              <a:lnSpc>
                <a:spcPct val="100000"/>
              </a:lnSpc>
              <a:spcBef>
                <a:spcPts val="700"/>
              </a:spcBef>
              <a:buFont typeface="Arial"/>
              <a:buChar char="•"/>
            </a:pPr>
            <a:r>
              <a:rPr lang="en-US" sz="1400" b="0" dirty="0">
                <a:solidFill>
                  <a:srgbClr val="0E2841"/>
                </a:solidFill>
                <a:latin typeface="Aptos"/>
              </a:rPr>
              <a:t>Idea generation</a:t>
            </a:r>
          </a:p>
          <a:p>
            <a:pPr marL="228600" indent="-228600" algn="l">
              <a:lnSpc>
                <a:spcPct val="100000"/>
              </a:lnSpc>
              <a:spcBef>
                <a:spcPts val="700"/>
              </a:spcBef>
              <a:buFont typeface="Arial"/>
              <a:buChar char="•"/>
            </a:pPr>
            <a:r>
              <a:rPr lang="en-US" sz="1400" b="0" dirty="0">
                <a:solidFill>
                  <a:srgbClr val="0E2841"/>
                </a:solidFill>
                <a:latin typeface="Aptos"/>
              </a:rPr>
              <a:t>Research gap identification</a:t>
            </a:r>
          </a:p>
          <a:p>
            <a:pPr marL="0" indent="0" algn="l">
              <a:lnSpc>
                <a:spcPct val="100000"/>
              </a:lnSpc>
              <a:spcBef>
                <a:spcPts val="1200"/>
              </a:spcBef>
              <a:buNone/>
            </a:pPr>
            <a:r>
              <a:rPr lang="en-US" sz="1000" b="1" dirty="0">
                <a:solidFill>
                  <a:srgbClr val="B4530F"/>
                </a:solidFill>
                <a:latin typeface="Aptos"/>
              </a:rPr>
              <a:t>Status: under ideation</a:t>
            </a:r>
          </a:p>
        </p:txBody>
      </p:sp>
      <p:sp>
        <p:nvSpPr>
          <p:cNvPr id="4" name="TextBox 3">
            <a:extLst>
              <a:ext uri="{FF2B5EF4-FFF2-40B4-BE49-F238E27FC236}">
                <a16:creationId xmlns:a16="http://schemas.microsoft.com/office/drawing/2014/main" id="{1F9F655A-4389-6160-3101-9394B6F06249}"/>
              </a:ext>
            </a:extLst>
          </p:cNvPr>
          <p:cNvSpPr txBox="1"/>
          <p:nvPr/>
        </p:nvSpPr>
        <p:spPr>
          <a:xfrm>
            <a:off x="431800" y="5298000"/>
            <a:ext cx="11280000" cy="646331"/>
          </a:xfrm>
          <a:prstGeom prst="rect">
            <a:avLst/>
          </a:prstGeom>
          <a:noFill/>
        </p:spPr>
        <p:txBody>
          <a:bodyPr wrap="square" rtlCol="0">
            <a:spAutoFit/>
          </a:bodyPr>
          <a:lstStyle/>
          <a:p>
            <a:r>
              <a:rPr lang="en-US" dirty="0">
                <a:solidFill>
                  <a:schemeClr val="tx1">
                    <a:lumMod val="65000"/>
                    <a:lumOff val="35000"/>
                  </a:schemeClr>
                </a:solidFill>
              </a:rPr>
              <a:t>Note: the paper title and the claims extracted from the papers are given in context (One retracted, other valid papers) </a:t>
            </a:r>
          </a:p>
        </p:txBody>
      </p:sp>
    </p:spTree>
    <p:extLst>
      <p:ext uri="{BB962C8B-B14F-4D97-AF65-F5344CB8AC3E}">
        <p14:creationId xmlns:p14="http://schemas.microsoft.com/office/powerpoint/2010/main" val="639581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19F7C-DBCA-1A87-9E60-DEBECA471032}"/>
            </a:ext>
          </a:extLst>
        </p:cNvPr>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228600" tIns="137160" rIns="228600" bIns="137160" anchor="t">
            <a:normAutofit fontScale="85000" lnSpcReduction="20000"/>
          </a:bodyPr>
          <a:lstStyle/>
          <a:p>
            <a:pPr marL="0" indent="0" algn="l">
              <a:lnSpc>
                <a:spcPct val="100000"/>
              </a:lnSpc>
              <a:spcBef>
                <a:spcPts val="0"/>
              </a:spcBef>
              <a:buNone/>
            </a:pPr>
            <a:r>
              <a:rPr lang="en-US" sz="2800" b="1">
                <a:solidFill>
                  <a:srgbClr val="0E2841"/>
                </a:solidFill>
                <a:latin typeface="Aptos"/>
              </a:rPr>
              <a:t>Reward Model for Bucket 2: Two Candidate Designs</a:t>
            </a:r>
          </a:p>
        </p:txBody>
      </p:sp>
      <p:sp>
        <p:nvSpPr>
          <p:cNvPr id="11" name="Rule"/>
          <p:cNvSpPr/>
          <p:nvPr/>
        </p:nvSpPr>
        <p:spPr>
          <a:xfrm>
            <a:off x="431800" y="1080000"/>
            <a:ext cx="11328400" cy="27432"/>
          </a:xfrm>
          <a:prstGeom prst="rect">
            <a:avLst/>
          </a:prstGeom>
          <a:solidFill>
            <a:srgbClr val="0E2841"/>
          </a:solidFill>
          <a:ln>
            <a:noFill/>
          </a:ln>
        </p:spPr>
        <p:txBody>
          <a:bodyPr/>
          <a:lstStyle/>
          <a:p>
            <a:endParaRPr/>
          </a:p>
        </p:txBody>
      </p:sp>
      <p:sp>
        <p:nvSpPr>
          <p:cNvPr id="12" name="Subtitle"/>
          <p:cNvSpPr/>
          <p:nvPr/>
        </p:nvSpPr>
        <p:spPr>
          <a:xfrm>
            <a:off x="431800" y="1180000"/>
            <a:ext cx="11328400" cy="330000"/>
          </a:xfrm>
          <a:prstGeom prst="rect">
            <a:avLst/>
          </a:prstGeom>
          <a:noFill/>
          <a:ln>
            <a:noFill/>
          </a:ln>
        </p:spPr>
        <p:txBody>
          <a:bodyPr lIns="228600" tIns="45720" rIns="228600" bIns="45720" anchor="t">
            <a:normAutofit/>
          </a:bodyPr>
          <a:lstStyle/>
          <a:p>
            <a:pPr marL="0" indent="0" algn="l">
              <a:buNone/>
            </a:pPr>
            <a:r>
              <a:rPr lang="en-US" sz="1300" b="0" dirty="0">
                <a:solidFill>
                  <a:srgbClr val="44546A"/>
                </a:solidFill>
                <a:latin typeface="Aptos"/>
              </a:rPr>
              <a:t>Scope:  </a:t>
            </a:r>
            <a:r>
              <a:rPr lang="en-US" sz="1300" dirty="0">
                <a:solidFill>
                  <a:srgbClr val="44546A"/>
                </a:solidFill>
                <a:latin typeface="Aptos"/>
              </a:rPr>
              <a:t>T</a:t>
            </a:r>
            <a:r>
              <a:rPr lang="en-US" sz="1300" b="0" dirty="0">
                <a:solidFill>
                  <a:srgbClr val="44546A"/>
                </a:solidFill>
                <a:latin typeface="Aptos"/>
              </a:rPr>
              <a:t>he reward scores whether extracted spans are grounded in retracted claims.</a:t>
            </a:r>
          </a:p>
        </p:txBody>
      </p:sp>
      <p:sp>
        <p:nvSpPr>
          <p:cNvPr id="13" name="HeadA"/>
          <p:cNvSpPr/>
          <p:nvPr/>
        </p:nvSpPr>
        <p:spPr>
          <a:xfrm>
            <a:off x="431800" y="1640000"/>
            <a:ext cx="5460000" cy="760000"/>
          </a:xfrm>
          <a:prstGeom prst="rect">
            <a:avLst/>
          </a:prstGeom>
          <a:solidFill>
            <a:srgbClr val="0F9ED5"/>
          </a:solidFill>
          <a:ln>
            <a:noFill/>
          </a:ln>
        </p:spPr>
        <p:txBody>
          <a:bodyPr lIns="228600" tIns="91440" rIns="228600" bIns="91440" anchor="ctr">
            <a:normAutofit/>
          </a:bodyPr>
          <a:lstStyle/>
          <a:p>
            <a:pPr marL="0" indent="0" algn="l">
              <a:buNone/>
            </a:pPr>
            <a:r>
              <a:rPr lang="en-US" sz="1100" b="1">
                <a:solidFill>
                  <a:srgbClr val="FFFFFF"/>
                </a:solidFill>
                <a:latin typeface="Aptos"/>
              </a:rPr>
              <a:t>DESIGN A</a:t>
            </a:r>
          </a:p>
          <a:p>
            <a:pPr marL="0" indent="0" algn="l">
              <a:spcBef>
                <a:spcPts val="400"/>
              </a:spcBef>
              <a:buNone/>
            </a:pPr>
            <a:r>
              <a:rPr lang="en-US" sz="1800" b="1">
                <a:solidFill>
                  <a:srgbClr val="FFFFFF"/>
                </a:solidFill>
                <a:latin typeface="Aptos"/>
              </a:rPr>
              <a:t>Stored Claim Embeddings (Retrieval-Based)</a:t>
            </a:r>
          </a:p>
        </p:txBody>
      </p:sp>
      <p:sp>
        <p:nvSpPr>
          <p:cNvPr id="14" name="BodyA"/>
          <p:cNvSpPr/>
          <p:nvPr/>
        </p:nvSpPr>
        <p:spPr>
          <a:xfrm>
            <a:off x="431800" y="2400000"/>
            <a:ext cx="5460000" cy="2740000"/>
          </a:xfrm>
          <a:prstGeom prst="rect">
            <a:avLst/>
          </a:prstGeom>
          <a:solidFill>
            <a:srgbClr val="F4F6F8"/>
          </a:solidFill>
          <a:ln w="12700">
            <a:solidFill>
              <a:srgbClr val="D9DEE3"/>
            </a:solidFill>
          </a:ln>
        </p:spPr>
        <p:txBody>
          <a:bodyPr lIns="228600" tIns="137160" rIns="228600" bIns="137160" anchor="t">
            <a:normAutofit/>
          </a:bodyPr>
          <a:lstStyle/>
          <a:p>
            <a:pPr marL="0" indent="0" algn="l">
              <a:spcBef>
                <a:spcPts val="200"/>
              </a:spcBef>
              <a:buNone/>
            </a:pPr>
            <a:r>
              <a:rPr lang="en-US" sz="1000" b="1" dirty="0">
                <a:solidFill>
                  <a:srgbClr val="0B6E93"/>
                </a:solidFill>
                <a:latin typeface="Aptos"/>
              </a:rPr>
              <a:t>HOW IT WORKS</a:t>
            </a:r>
          </a:p>
          <a:p>
            <a:pPr marL="228600" indent="-228600" algn="l">
              <a:spcBef>
                <a:spcPts val="600"/>
              </a:spcBef>
              <a:buFont typeface="Arial"/>
              <a:buChar char="•"/>
            </a:pPr>
            <a:r>
              <a:rPr lang="en-US" sz="1300" dirty="0">
                <a:solidFill>
                  <a:srgbClr val="0E2841"/>
                </a:solidFill>
                <a:latin typeface="Aptos"/>
              </a:rPr>
              <a:t>Retracted claims are encoded once and stored in a vector index.</a:t>
            </a:r>
          </a:p>
          <a:p>
            <a:pPr marL="228600" indent="-228600" algn="l">
              <a:spcBef>
                <a:spcPts val="600"/>
              </a:spcBef>
              <a:buFont typeface="Arial"/>
              <a:buChar char="•"/>
            </a:pPr>
            <a:r>
              <a:rPr lang="en-US" sz="1300" dirty="0">
                <a:solidFill>
                  <a:srgbClr val="0E2841"/>
                </a:solidFill>
                <a:latin typeface="Aptos"/>
              </a:rPr>
              <a:t>The target paragraph is embedded sentence-wise and matched against the stored claim vectors.</a:t>
            </a:r>
          </a:p>
          <a:p>
            <a:pPr marL="228600" indent="-228600" algn="l">
              <a:spcBef>
                <a:spcPts val="600"/>
              </a:spcBef>
              <a:buFont typeface="Arial"/>
              <a:buChar char="•"/>
            </a:pPr>
            <a:r>
              <a:rPr lang="en-US" sz="1300" dirty="0">
                <a:solidFill>
                  <a:srgbClr val="0E2841"/>
                </a:solidFill>
                <a:latin typeface="Aptos"/>
              </a:rPr>
              <a:t>Similarity to retracted claims penalizes.</a:t>
            </a:r>
          </a:p>
          <a:p>
            <a:pPr marL="0" indent="0" algn="l">
              <a:spcBef>
                <a:spcPts val="900"/>
              </a:spcBef>
              <a:buNone/>
            </a:pPr>
            <a:r>
              <a:rPr lang="en-US" sz="1200" b="1" dirty="0">
                <a:solidFill>
                  <a:srgbClr val="0E2841"/>
                </a:solidFill>
                <a:latin typeface="Aptos"/>
              </a:rPr>
              <a:t>Trade-off: </a:t>
            </a:r>
            <a:r>
              <a:rPr lang="en-US" sz="1200" dirty="0">
                <a:solidFill>
                  <a:srgbClr val="44546A"/>
                </a:solidFill>
                <a:latin typeface="Aptos"/>
              </a:rPr>
              <a:t>simple, transparent, cheap to update - but inference time is more which will in turn increase the RL training time.</a:t>
            </a:r>
          </a:p>
        </p:txBody>
      </p:sp>
      <p:sp>
        <p:nvSpPr>
          <p:cNvPr id="15" name="HeadB"/>
          <p:cNvSpPr/>
          <p:nvPr/>
        </p:nvSpPr>
        <p:spPr>
          <a:xfrm>
            <a:off x="6300200" y="1640000"/>
            <a:ext cx="5460000" cy="760000"/>
          </a:xfrm>
          <a:prstGeom prst="rect">
            <a:avLst/>
          </a:prstGeom>
          <a:solidFill>
            <a:srgbClr val="156082"/>
          </a:solidFill>
          <a:ln>
            <a:noFill/>
          </a:ln>
        </p:spPr>
        <p:txBody>
          <a:bodyPr lIns="228600" tIns="91440" rIns="228600" bIns="91440" anchor="ctr">
            <a:normAutofit/>
          </a:bodyPr>
          <a:lstStyle/>
          <a:p>
            <a:pPr marL="0" indent="0" algn="l">
              <a:buNone/>
            </a:pPr>
            <a:r>
              <a:rPr lang="en-US" sz="1100" b="1">
                <a:solidFill>
                  <a:srgbClr val="FFFFFF"/>
                </a:solidFill>
                <a:latin typeface="Aptos"/>
              </a:rPr>
              <a:t>DESIGN B</a:t>
            </a:r>
          </a:p>
          <a:p>
            <a:pPr marL="0" indent="0" algn="l">
              <a:spcBef>
                <a:spcPts val="400"/>
              </a:spcBef>
              <a:buNone/>
            </a:pPr>
            <a:r>
              <a:rPr lang="en-US" sz="1800" b="1">
                <a:solidFill>
                  <a:srgbClr val="FFFFFF"/>
                </a:solidFill>
                <a:latin typeface="Aptos"/>
              </a:rPr>
              <a:t>Claims Learnt by a Small LM (Model-Based)</a:t>
            </a:r>
          </a:p>
        </p:txBody>
      </p:sp>
      <p:sp>
        <p:nvSpPr>
          <p:cNvPr id="16" name="BodyB"/>
          <p:cNvSpPr/>
          <p:nvPr/>
        </p:nvSpPr>
        <p:spPr>
          <a:xfrm>
            <a:off x="6300200" y="2400000"/>
            <a:ext cx="5460000" cy="2740000"/>
          </a:xfrm>
          <a:prstGeom prst="rect">
            <a:avLst/>
          </a:prstGeom>
          <a:solidFill>
            <a:srgbClr val="F4F6F8"/>
          </a:solidFill>
          <a:ln w="12700">
            <a:solidFill>
              <a:srgbClr val="D9DEE3"/>
            </a:solidFill>
          </a:ln>
        </p:spPr>
        <p:txBody>
          <a:bodyPr lIns="228600" tIns="137160" rIns="228600" bIns="137160" anchor="t">
            <a:normAutofit/>
          </a:bodyPr>
          <a:lstStyle/>
          <a:p>
            <a:pPr marL="0" indent="0" algn="l">
              <a:spcBef>
                <a:spcPts val="200"/>
              </a:spcBef>
              <a:buNone/>
            </a:pPr>
            <a:r>
              <a:rPr lang="en-US" sz="1000" b="1" dirty="0">
                <a:solidFill>
                  <a:srgbClr val="156082"/>
                </a:solidFill>
                <a:latin typeface="Aptos"/>
              </a:rPr>
              <a:t>HOW IT WORKS</a:t>
            </a:r>
          </a:p>
          <a:p>
            <a:pPr marL="228600" indent="-228600" algn="l">
              <a:spcBef>
                <a:spcPts val="600"/>
              </a:spcBef>
              <a:buFont typeface="Arial"/>
              <a:buChar char="•"/>
            </a:pPr>
            <a:r>
              <a:rPr lang="en-US" sz="1300" dirty="0">
                <a:solidFill>
                  <a:srgbClr val="0E2841"/>
                </a:solidFill>
                <a:latin typeface="Aptos"/>
              </a:rPr>
              <a:t>A small LM is trained on the task of retracted claim span extraction from a paragraph. </a:t>
            </a:r>
          </a:p>
          <a:p>
            <a:pPr marL="228600" indent="-228600" algn="l">
              <a:spcBef>
                <a:spcPts val="600"/>
              </a:spcBef>
              <a:buFont typeface="Arial"/>
              <a:buChar char="•"/>
            </a:pPr>
            <a:r>
              <a:rPr lang="en-US" sz="1300" dirty="0">
                <a:solidFill>
                  <a:srgbClr val="0E2841"/>
                </a:solidFill>
                <a:latin typeface="Aptos"/>
              </a:rPr>
              <a:t>The extracted span is scored directly by the SLM - no claim store at inference.</a:t>
            </a:r>
          </a:p>
          <a:p>
            <a:pPr marL="228600" indent="-228600" algn="l">
              <a:spcBef>
                <a:spcPts val="600"/>
              </a:spcBef>
              <a:buFont typeface="Arial"/>
              <a:buChar char="•"/>
            </a:pPr>
            <a:r>
              <a:rPr lang="en-US" sz="1300" dirty="0">
                <a:solidFill>
                  <a:srgbClr val="0E2841"/>
                </a:solidFill>
                <a:latin typeface="Aptos"/>
              </a:rPr>
              <a:t>That score becomes the dense reward signal for training the policy.</a:t>
            </a:r>
          </a:p>
          <a:p>
            <a:pPr marL="0" indent="0" algn="l">
              <a:spcBef>
                <a:spcPts val="900"/>
              </a:spcBef>
              <a:buNone/>
            </a:pPr>
            <a:r>
              <a:rPr lang="en-US" sz="1200" b="1" dirty="0">
                <a:solidFill>
                  <a:srgbClr val="0E2841"/>
                </a:solidFill>
                <a:latin typeface="Aptos"/>
              </a:rPr>
              <a:t>Trade-off: </a:t>
            </a:r>
            <a:r>
              <a:rPr lang="en-US" sz="1200" dirty="0">
                <a:solidFill>
                  <a:srgbClr val="44546A"/>
                </a:solidFill>
                <a:latin typeface="Aptos"/>
              </a:rPr>
              <a:t>low latency, high GPU, low RL training time.</a:t>
            </a:r>
          </a:p>
        </p:txBody>
      </p:sp>
      <p:sp>
        <p:nvSpPr>
          <p:cNvPr id="17" name="Footnote"/>
          <p:cNvSpPr txBox="1"/>
          <p:nvPr/>
        </p:nvSpPr>
        <p:spPr>
          <a:xfrm>
            <a:off x="431800" y="5340000"/>
            <a:ext cx="11328400" cy="400000"/>
          </a:xfrm>
          <a:prstGeom prst="rect">
            <a:avLst/>
          </a:prstGeom>
          <a:noFill/>
        </p:spPr>
        <p:txBody>
          <a:bodyPr wrap="square" lIns="228600" tIns="45720" rIns="228600" bIns="45720" rtlCol="0">
            <a:normAutofit/>
          </a:bodyPr>
          <a:lstStyle/>
          <a:p>
            <a:pPr marL="0" indent="0" algn="l">
              <a:buNone/>
            </a:pPr>
            <a:r>
              <a:rPr lang="en-US" sz="1200" b="1" dirty="0">
                <a:solidFill>
                  <a:srgbClr val="0E2841"/>
                </a:solidFill>
                <a:latin typeface="Aptos"/>
              </a:rPr>
              <a:t>Next step: </a:t>
            </a:r>
            <a:r>
              <a:rPr lang="en-US" sz="1200" dirty="0">
                <a:solidFill>
                  <a:srgbClr val="44546A"/>
                </a:solidFill>
                <a:latin typeface="Aptos"/>
              </a:rPr>
              <a:t>evaluate both designs on the same span-extraction set before committing to one reward model.</a:t>
            </a:r>
          </a:p>
        </p:txBody>
      </p:sp>
    </p:spTree>
    <p:extLst>
      <p:ext uri="{BB962C8B-B14F-4D97-AF65-F5344CB8AC3E}">
        <p14:creationId xmlns:p14="http://schemas.microsoft.com/office/powerpoint/2010/main" val="2640679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E2E13-01E3-4C2E-F453-C85692BE7778}"/>
            </a:ext>
          </a:extLst>
        </p:cNvPr>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228600" tIns="137160" rIns="228600" bIns="137160" anchor="t">
            <a:normAutofit fontScale="85000" lnSpcReduction="20000"/>
          </a:bodyPr>
          <a:lstStyle/>
          <a:p>
            <a:pPr marL="0" indent="0" algn="l">
              <a:buNone/>
            </a:pPr>
            <a:r>
              <a:rPr lang="en-US" sz="2800" b="1" dirty="0">
                <a:solidFill>
                  <a:srgbClr val="0E2841"/>
                </a:solidFill>
                <a:latin typeface="Aptos"/>
              </a:rPr>
              <a:t>Retrieval-Based Reward Model (BERT)</a:t>
            </a:r>
          </a:p>
        </p:txBody>
      </p:sp>
      <p:sp>
        <p:nvSpPr>
          <p:cNvPr id="11" name="Rule"/>
          <p:cNvSpPr/>
          <p:nvPr/>
        </p:nvSpPr>
        <p:spPr>
          <a:xfrm>
            <a:off x="431800" y="1080000"/>
            <a:ext cx="11328400" cy="27432"/>
          </a:xfrm>
          <a:prstGeom prst="rect">
            <a:avLst/>
          </a:prstGeom>
          <a:solidFill>
            <a:srgbClr val="0E2841"/>
          </a:solidFill>
          <a:ln>
            <a:noFill/>
          </a:ln>
        </p:spPr>
        <p:txBody>
          <a:bodyPr/>
          <a:lstStyle/>
          <a:p>
            <a:endParaRPr/>
          </a:p>
        </p:txBody>
      </p:sp>
      <p:sp>
        <p:nvSpPr>
          <p:cNvPr id="12" name="Subtitle"/>
          <p:cNvSpPr/>
          <p:nvPr/>
        </p:nvSpPr>
        <p:spPr>
          <a:xfrm>
            <a:off x="431800" y="1160000"/>
            <a:ext cx="11328400" cy="420000"/>
          </a:xfrm>
          <a:prstGeom prst="rect">
            <a:avLst/>
          </a:prstGeom>
          <a:noFill/>
          <a:ln>
            <a:noFill/>
          </a:ln>
        </p:spPr>
        <p:txBody>
          <a:bodyPr lIns="228600" tIns="45720" rIns="228600" bIns="45720" anchor="t">
            <a:normAutofit fontScale="92500" lnSpcReduction="10000"/>
          </a:bodyPr>
          <a:lstStyle/>
          <a:p>
            <a:pPr marL="0" indent="0" algn="l">
              <a:buNone/>
            </a:pPr>
            <a:r>
              <a:rPr lang="en-US" sz="1200" b="1" dirty="0">
                <a:solidFill>
                  <a:srgbClr val="0E2841"/>
                </a:solidFill>
                <a:latin typeface="Aptos"/>
              </a:rPr>
              <a:t>Toy dataset: </a:t>
            </a:r>
            <a:r>
              <a:rPr lang="en-US" sz="1200" dirty="0">
                <a:solidFill>
                  <a:srgbClr val="44546A"/>
                </a:solidFill>
                <a:latin typeface="Aptos"/>
              </a:rPr>
              <a:t>53 papers, 3-4 claims per paper, 9+9 target paragraphs (summarization and Long QA). 41 negative set where no retracted claims are present. A frontier GPT model annotates start/end character spans mapped to claims as gold data; 1 validation / 1 inference from each positive and negative sets are kept aside before training. </a:t>
            </a:r>
          </a:p>
        </p:txBody>
      </p:sp>
      <p:sp>
        <p:nvSpPr>
          <p:cNvPr id="13" name="HeadTrain"/>
          <p:cNvSpPr/>
          <p:nvPr/>
        </p:nvSpPr>
        <p:spPr>
          <a:xfrm>
            <a:off x="431800" y="1720000"/>
            <a:ext cx="5460000" cy="540000"/>
          </a:xfrm>
          <a:prstGeom prst="rect">
            <a:avLst/>
          </a:prstGeom>
          <a:solidFill>
            <a:srgbClr val="0F9ED5"/>
          </a:solidFill>
          <a:ln>
            <a:noFill/>
          </a:ln>
        </p:spPr>
        <p:txBody>
          <a:bodyPr lIns="228600" tIns="91440" rIns="228600" bIns="91440" anchor="ctr">
            <a:normAutofit/>
          </a:bodyPr>
          <a:lstStyle/>
          <a:p>
            <a:pPr marL="0" indent="0" algn="l">
              <a:buNone/>
            </a:pPr>
            <a:r>
              <a:rPr lang="en-US" sz="1800" b="1">
                <a:solidFill>
                  <a:srgbClr val="FFFFFF"/>
                </a:solidFill>
                <a:latin typeface="Aptos"/>
              </a:rPr>
              <a:t>Training: DeBERTa-v3-base</a:t>
            </a:r>
          </a:p>
        </p:txBody>
      </p:sp>
      <p:sp>
        <p:nvSpPr>
          <p:cNvPr id="14" name="BodyTrain"/>
          <p:cNvSpPr/>
          <p:nvPr/>
        </p:nvSpPr>
        <p:spPr>
          <a:xfrm>
            <a:off x="431800" y="2260000"/>
            <a:ext cx="5460000" cy="2960000"/>
          </a:xfrm>
          <a:prstGeom prst="rect">
            <a:avLst/>
          </a:prstGeom>
          <a:solidFill>
            <a:srgbClr val="F4F6F8"/>
          </a:solidFill>
          <a:ln w="12700">
            <a:solidFill>
              <a:srgbClr val="D9DEE3"/>
            </a:solidFill>
          </a:ln>
        </p:spPr>
        <p:txBody>
          <a:bodyPr lIns="228600" tIns="137160" rIns="228600" bIns="137160" anchor="t">
            <a:normAutofit/>
          </a:bodyPr>
          <a:lstStyle/>
          <a:p>
            <a:pPr marL="228600" indent="-228600" algn="l">
              <a:spcBef>
                <a:spcPts val="200"/>
              </a:spcBef>
              <a:buFont typeface="Arial"/>
              <a:buChar char="•"/>
            </a:pPr>
            <a:r>
              <a:rPr lang="en-US" sz="1200" dirty="0">
                <a:solidFill>
                  <a:srgbClr val="0E2841"/>
                </a:solidFill>
                <a:latin typeface="Aptos"/>
              </a:rPr>
              <a:t>Paragraph is encoded once and two heads are learnt simultaneously:</a:t>
            </a:r>
          </a:p>
          <a:p>
            <a:pPr marL="457200" indent="-228600" algn="l">
              <a:spcBef>
                <a:spcPts val="300"/>
              </a:spcBef>
              <a:buFont typeface="Arial"/>
              <a:buChar char="–"/>
            </a:pPr>
            <a:r>
              <a:rPr lang="en-US" sz="1200" b="1" dirty="0">
                <a:solidFill>
                  <a:srgbClr val="0B6E93"/>
                </a:solidFill>
                <a:latin typeface="Aptos"/>
              </a:rPr>
              <a:t>Usage head - </a:t>
            </a:r>
            <a:r>
              <a:rPr lang="en-US" sz="1200" dirty="0">
                <a:solidFill>
                  <a:srgbClr val="0E2841"/>
                </a:solidFill>
                <a:latin typeface="Aptos"/>
              </a:rPr>
              <a:t>claim used vs. claim not used.</a:t>
            </a:r>
          </a:p>
          <a:p>
            <a:pPr marL="457200" indent="-228600" algn="l">
              <a:spcBef>
                <a:spcPts val="300"/>
              </a:spcBef>
              <a:buFont typeface="Arial"/>
              <a:buChar char="–"/>
            </a:pPr>
            <a:r>
              <a:rPr lang="en-US" sz="1200" b="1" dirty="0">
                <a:solidFill>
                  <a:srgbClr val="0B6E93"/>
                </a:solidFill>
                <a:latin typeface="Aptos"/>
              </a:rPr>
              <a:t>Span head - </a:t>
            </a:r>
            <a:r>
              <a:rPr lang="en-US" sz="1200" dirty="0">
                <a:solidFill>
                  <a:srgbClr val="0E2841"/>
                </a:solidFill>
                <a:latin typeface="Aptos"/>
              </a:rPr>
              <a:t>token-wise BIO score locating the claim span.</a:t>
            </a:r>
          </a:p>
          <a:p>
            <a:pPr marL="228600" indent="-228600" algn="l">
              <a:spcBef>
                <a:spcPts val="500"/>
              </a:spcBef>
              <a:buFont typeface="Arial"/>
              <a:buChar char="•"/>
            </a:pPr>
            <a:r>
              <a:rPr lang="en-US" sz="1200" b="1" dirty="0">
                <a:solidFill>
                  <a:srgbClr val="0E2841"/>
                </a:solidFill>
                <a:latin typeface="Aptos"/>
              </a:rPr>
              <a:t>Total loss = </a:t>
            </a:r>
            <a:r>
              <a:rPr lang="en-US" sz="1200" dirty="0">
                <a:solidFill>
                  <a:srgbClr val="0E2841"/>
                </a:solidFill>
                <a:latin typeface="Aptos"/>
              </a:rPr>
              <a:t>usage cross-entropy + token-level span loss + consistency loss, which forces a span whenever usage is predicted.</a:t>
            </a:r>
          </a:p>
          <a:p>
            <a:pPr marL="228600" indent="-228600" algn="l">
              <a:spcBef>
                <a:spcPts val="500"/>
              </a:spcBef>
              <a:buFont typeface="Arial"/>
              <a:buChar char="•"/>
            </a:pPr>
            <a:r>
              <a:rPr lang="en-US" sz="1200" dirty="0">
                <a:solidFill>
                  <a:srgbClr val="0E2841"/>
                </a:solidFill>
                <a:latin typeface="Aptos"/>
              </a:rPr>
              <a:t>Trained for 5 epochs, checked with 9-fold cross-validation so every answer is used for inference once.</a:t>
            </a:r>
          </a:p>
        </p:txBody>
      </p:sp>
      <p:sp>
        <p:nvSpPr>
          <p:cNvPr id="15" name="HeadInfer"/>
          <p:cNvSpPr/>
          <p:nvPr/>
        </p:nvSpPr>
        <p:spPr>
          <a:xfrm>
            <a:off x="6300200" y="1720000"/>
            <a:ext cx="5460000" cy="540000"/>
          </a:xfrm>
          <a:prstGeom prst="rect">
            <a:avLst/>
          </a:prstGeom>
          <a:solidFill>
            <a:srgbClr val="156082"/>
          </a:solidFill>
          <a:ln>
            <a:noFill/>
          </a:ln>
        </p:spPr>
        <p:txBody>
          <a:bodyPr lIns="228600" tIns="91440" rIns="228600" bIns="91440" anchor="ctr">
            <a:normAutofit/>
          </a:bodyPr>
          <a:lstStyle/>
          <a:p>
            <a:pPr marL="0" indent="0" algn="l">
              <a:buNone/>
            </a:pPr>
            <a:r>
              <a:rPr lang="en-US" sz="1800" b="1">
                <a:solidFill>
                  <a:srgbClr val="FFFFFF"/>
                </a:solidFill>
                <a:latin typeface="Aptos"/>
              </a:rPr>
              <a:t>Inference: Retrieve, then Localize</a:t>
            </a:r>
          </a:p>
        </p:txBody>
      </p:sp>
      <p:sp>
        <p:nvSpPr>
          <p:cNvPr id="16" name="BodyInfer"/>
          <p:cNvSpPr/>
          <p:nvPr/>
        </p:nvSpPr>
        <p:spPr>
          <a:xfrm>
            <a:off x="6300200" y="2260000"/>
            <a:ext cx="5460000" cy="2960000"/>
          </a:xfrm>
          <a:prstGeom prst="rect">
            <a:avLst/>
          </a:prstGeom>
          <a:solidFill>
            <a:srgbClr val="F4F6F8"/>
          </a:solidFill>
          <a:ln w="12700">
            <a:solidFill>
              <a:srgbClr val="D9DEE3"/>
            </a:solidFill>
          </a:ln>
        </p:spPr>
        <p:txBody>
          <a:bodyPr lIns="228600" tIns="137160" rIns="228600" bIns="137160" anchor="t">
            <a:normAutofit/>
          </a:bodyPr>
          <a:lstStyle/>
          <a:p>
            <a:pPr marL="228600" indent="-228600" algn="l">
              <a:spcBef>
                <a:spcPts val="200"/>
              </a:spcBef>
              <a:buFont typeface="Arial"/>
              <a:buChar char="•"/>
            </a:pPr>
            <a:r>
              <a:rPr lang="en-US" sz="1200" dirty="0">
                <a:solidFill>
                  <a:srgbClr val="0E2841"/>
                </a:solidFill>
                <a:latin typeface="Aptos"/>
              </a:rPr>
              <a:t>The pipeline receives only the target paragraph - the reward model must already know the retracted claims as stored embeddings beforehand.</a:t>
            </a:r>
          </a:p>
          <a:p>
            <a:pPr marL="228600" indent="-228600" algn="l">
              <a:spcBef>
                <a:spcPts val="500"/>
              </a:spcBef>
              <a:buFont typeface="Arial"/>
              <a:buChar char="•"/>
            </a:pPr>
            <a:r>
              <a:rPr lang="en-US" sz="1200" dirty="0">
                <a:solidFill>
                  <a:srgbClr val="0E2841"/>
                </a:solidFill>
                <a:latin typeface="Aptos"/>
              </a:rPr>
              <a:t>The paragraph is broken into sentences.</a:t>
            </a:r>
          </a:p>
          <a:p>
            <a:pPr marL="228600" indent="-228600" algn="l">
              <a:spcBef>
                <a:spcPts val="500"/>
              </a:spcBef>
              <a:buFont typeface="Arial"/>
              <a:buChar char="•"/>
            </a:pPr>
            <a:r>
              <a:rPr lang="en-US" sz="1200" b="1" dirty="0" err="1">
                <a:solidFill>
                  <a:srgbClr val="156082"/>
                </a:solidFill>
                <a:latin typeface="Aptos"/>
              </a:rPr>
              <a:t>SciNCL</a:t>
            </a:r>
            <a:r>
              <a:rPr lang="en-US" sz="1200" b="1" dirty="0">
                <a:solidFill>
                  <a:srgbClr val="156082"/>
                </a:solidFill>
                <a:latin typeface="Aptos"/>
              </a:rPr>
              <a:t> retrieval - </a:t>
            </a:r>
            <a:r>
              <a:rPr lang="en-US" sz="1200" dirty="0">
                <a:solidFill>
                  <a:srgbClr val="0E2841"/>
                </a:solidFill>
                <a:latin typeface="Aptos"/>
              </a:rPr>
              <a:t>the closest k=5 claims are retrieved first to narrow down the BERT inference.</a:t>
            </a:r>
          </a:p>
          <a:p>
            <a:pPr marL="228600" indent="-228600" algn="l">
              <a:spcBef>
                <a:spcPts val="500"/>
              </a:spcBef>
              <a:buFont typeface="Arial"/>
              <a:buChar char="•"/>
            </a:pPr>
            <a:r>
              <a:rPr lang="en-US" sz="1200" dirty="0">
                <a:solidFill>
                  <a:srgbClr val="0E2841"/>
                </a:solidFill>
                <a:latin typeface="Aptos"/>
              </a:rPr>
              <a:t>BERT predicts usage and span simultaneously; predicted tokens are converted back to character spans.</a:t>
            </a:r>
          </a:p>
          <a:p>
            <a:pPr marL="228600" indent="-228600" algn="l">
              <a:spcBef>
                <a:spcPts val="500"/>
              </a:spcBef>
              <a:buFont typeface="Arial"/>
              <a:buChar char="•"/>
            </a:pPr>
            <a:r>
              <a:rPr lang="en-US" sz="1200" b="1" dirty="0">
                <a:solidFill>
                  <a:srgbClr val="156082"/>
                </a:solidFill>
                <a:latin typeface="Aptos"/>
              </a:rPr>
              <a:t>Second-layer check - </a:t>
            </a:r>
            <a:r>
              <a:rPr lang="en-US" sz="1200" dirty="0">
                <a:solidFill>
                  <a:srgbClr val="0E2841"/>
                </a:solidFill>
                <a:latin typeface="Aptos"/>
              </a:rPr>
              <a:t>a 95th-percentile threshold from validation probabilities splits outputs into validated used, validated not used, and abstain. Usage predicted without a span also abstains.</a:t>
            </a:r>
          </a:p>
        </p:txBody>
      </p:sp>
      <p:sp>
        <p:nvSpPr>
          <p:cNvPr id="17" name="Footnote"/>
          <p:cNvSpPr txBox="1"/>
          <p:nvPr/>
        </p:nvSpPr>
        <p:spPr>
          <a:xfrm>
            <a:off x="431800" y="5340000"/>
            <a:ext cx="11328400" cy="400000"/>
          </a:xfrm>
          <a:prstGeom prst="rect">
            <a:avLst/>
          </a:prstGeom>
          <a:noFill/>
        </p:spPr>
        <p:txBody>
          <a:bodyPr wrap="square" lIns="228600" tIns="45720" rIns="228600" bIns="45720" rtlCol="0">
            <a:normAutofit fontScale="92500" lnSpcReduction="10000"/>
          </a:bodyPr>
          <a:lstStyle/>
          <a:p>
            <a:pPr marL="0" indent="0" algn="l">
              <a:buNone/>
            </a:pPr>
            <a:r>
              <a:rPr lang="en-US" sz="1200" b="1" dirty="0">
                <a:solidFill>
                  <a:srgbClr val="0E2841"/>
                </a:solidFill>
                <a:latin typeface="Aptos"/>
              </a:rPr>
              <a:t>Why this design: </a:t>
            </a:r>
            <a:r>
              <a:rPr lang="en-US" sz="1200" dirty="0">
                <a:solidFill>
                  <a:srgbClr val="44546A"/>
                </a:solidFill>
                <a:latin typeface="Aptos"/>
              </a:rPr>
              <a:t>joint usage + span supervision keeps the reward interpretable, and retrieval keeps inference cheap enough to stay on CPU during RL training, though the inference time is high.</a:t>
            </a:r>
          </a:p>
        </p:txBody>
      </p:sp>
    </p:spTree>
    <p:extLst>
      <p:ext uri="{BB962C8B-B14F-4D97-AF65-F5344CB8AC3E}">
        <p14:creationId xmlns:p14="http://schemas.microsoft.com/office/powerpoint/2010/main" val="356932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137160" tIns="91440" rIns="137160" bIns="91440" anchor="t">
            <a:normAutofit lnSpcReduction="10000"/>
          </a:bodyPr>
          <a:lstStyle/>
          <a:p>
            <a:pPr marL="0" indent="0" algn="l">
              <a:buNone/>
            </a:pPr>
            <a:r>
              <a:rPr lang="en-US" sz="2800" b="1">
                <a:solidFill>
                  <a:srgbClr val="0E2841"/>
                </a:solidFill>
                <a:latin typeface="Aptos"/>
              </a:rPr>
              <a:t>Model-Based Reward Design: Five Training Variants</a:t>
            </a:r>
          </a:p>
        </p:txBody>
      </p:sp>
      <p:sp>
        <p:nvSpPr>
          <p:cNvPr id="11" name="Rule"/>
          <p:cNvSpPr/>
          <p:nvPr/>
        </p:nvSpPr>
        <p:spPr>
          <a:xfrm>
            <a:off x="431800" y="1080000"/>
            <a:ext cx="11328400" cy="27432"/>
          </a:xfrm>
          <a:prstGeom prst="rect">
            <a:avLst/>
          </a:prstGeom>
          <a:solidFill>
            <a:srgbClr val="0E2841"/>
          </a:solidFill>
          <a:ln>
            <a:noFill/>
          </a:ln>
        </p:spPr>
        <p:txBody>
          <a:bodyPr lIns="137160" tIns="91440" rIns="137160" bIns="91440" anchor="t">
            <a:normAutofit fontScale="25000" lnSpcReduction="20000"/>
          </a:bodyPr>
          <a:lstStyle/>
          <a:p>
            <a:endParaRPr/>
          </a:p>
        </p:txBody>
      </p:sp>
      <p:sp>
        <p:nvSpPr>
          <p:cNvPr id="12" name="Subtitle"/>
          <p:cNvSpPr/>
          <p:nvPr/>
        </p:nvSpPr>
        <p:spPr>
          <a:xfrm>
            <a:off x="431800" y="1160000"/>
            <a:ext cx="11328400" cy="700000"/>
          </a:xfrm>
          <a:prstGeom prst="rect">
            <a:avLst/>
          </a:prstGeom>
          <a:solidFill>
            <a:srgbClr val="FFFFFF"/>
          </a:solidFill>
          <a:ln>
            <a:noFill/>
          </a:ln>
        </p:spPr>
        <p:txBody>
          <a:bodyPr lIns="137160" tIns="91440" rIns="137160" bIns="91440" anchor="t">
            <a:normAutofit lnSpcReduction="10000"/>
          </a:bodyPr>
          <a:lstStyle/>
          <a:p>
            <a:pPr marL="0" indent="0" algn="l">
              <a:buNone/>
            </a:pPr>
            <a:r>
              <a:rPr lang="en-US" sz="1200" b="1" dirty="0">
                <a:solidFill>
                  <a:srgbClr val="0E2841"/>
                </a:solidFill>
                <a:latin typeface="Aptos"/>
              </a:rPr>
              <a:t>Task: </a:t>
            </a:r>
            <a:r>
              <a:rPr lang="en-US" sz="1200" b="0" dirty="0">
                <a:solidFill>
                  <a:srgbClr val="44546A"/>
                </a:solidFill>
                <a:latin typeface="Aptos"/>
              </a:rPr>
              <a:t>finetune the reward model so the retracted claims live in the model weights. </a:t>
            </a:r>
          </a:p>
          <a:p>
            <a:pPr marL="0" indent="0" algn="l">
              <a:buNone/>
            </a:pPr>
            <a:r>
              <a:rPr lang="en-US" sz="1200" b="1" dirty="0">
                <a:solidFill>
                  <a:srgbClr val="0E2841"/>
                </a:solidFill>
                <a:latin typeface="Aptos"/>
              </a:rPr>
              <a:t>Intuition: </a:t>
            </a:r>
            <a:r>
              <a:rPr lang="en-US" sz="1200" b="0" dirty="0">
                <a:solidFill>
                  <a:srgbClr val="44546A"/>
                </a:solidFill>
                <a:latin typeface="Aptos"/>
              </a:rPr>
              <a:t>the model does not know a claim is retracted, so retraction knowledge must be injected first, then the model specialized in extracting retracted-claim spans from any paragraph. Five training designs are compared on the same small dataset, which will be extended for the final comparison.</a:t>
            </a:r>
          </a:p>
        </p:txBody>
      </p:sp>
      <p:sp>
        <p:nvSpPr>
          <p:cNvPr id="13" name="Head0"/>
          <p:cNvSpPr/>
          <p:nvPr/>
        </p:nvSpPr>
        <p:spPr>
          <a:xfrm>
            <a:off x="431800" y="2060000"/>
            <a:ext cx="2137680" cy="900000"/>
          </a:xfrm>
          <a:prstGeom prst="rect">
            <a:avLst/>
          </a:prstGeom>
          <a:solidFill>
            <a:srgbClr val="6E7F8D"/>
          </a:solidFill>
          <a:ln>
            <a:noFill/>
          </a:ln>
        </p:spPr>
        <p:txBody>
          <a:bodyPr lIns="137160" tIns="91440" rIns="137160" bIns="91440" anchor="t">
            <a:normAutofit/>
          </a:bodyPr>
          <a:lstStyle/>
          <a:p>
            <a:pPr marL="0" indent="0" algn="l">
              <a:buNone/>
            </a:pPr>
            <a:r>
              <a:rPr lang="en-US" sz="1400" b="1">
                <a:solidFill>
                  <a:srgbClr val="FFFFFF"/>
                </a:solidFill>
                <a:latin typeface="Aptos"/>
              </a:rPr>
              <a:t>1</a:t>
            </a:r>
          </a:p>
          <a:p>
            <a:pPr marL="0" indent="0" algn="l">
              <a:buNone/>
            </a:pPr>
            <a:r>
              <a:rPr lang="en-US" sz="1200" b="1">
                <a:solidFill>
                  <a:srgbClr val="FFFFFF"/>
                </a:solidFill>
                <a:latin typeface="Aptos"/>
              </a:rPr>
              <a:t>No Finetuning</a:t>
            </a:r>
          </a:p>
        </p:txBody>
      </p:sp>
      <p:sp>
        <p:nvSpPr>
          <p:cNvPr id="14" name="Body0"/>
          <p:cNvSpPr/>
          <p:nvPr/>
        </p:nvSpPr>
        <p:spPr>
          <a:xfrm>
            <a:off x="431800" y="2960000"/>
            <a:ext cx="2137680" cy="1500000"/>
          </a:xfrm>
          <a:prstGeom prst="rect">
            <a:avLst/>
          </a:prstGeom>
          <a:solidFill>
            <a:srgbClr val="F4F6F8"/>
          </a:solidFill>
          <a:ln w="12700">
            <a:solidFill>
              <a:srgbClr val="D9DEE3"/>
            </a:solidFill>
          </a:ln>
        </p:spPr>
        <p:txBody>
          <a:bodyPr lIns="137160" tIns="91440" rIns="137160" bIns="91440" anchor="t">
            <a:normAutofit/>
          </a:bodyPr>
          <a:lstStyle/>
          <a:p>
            <a:pPr marL="0" indent="0" algn="l">
              <a:buNone/>
            </a:pPr>
            <a:r>
              <a:rPr lang="en-US" sz="1000" b="0">
                <a:solidFill>
                  <a:srgbClr val="0E2841"/>
                </a:solidFill>
                <a:latin typeface="Aptos"/>
              </a:rPr>
              <a:t>Base model is used as-is, with no knowledge injection and no task tuning. Serves as the reference point for every other variant.</a:t>
            </a:r>
          </a:p>
        </p:txBody>
      </p:sp>
      <p:sp>
        <p:nvSpPr>
          <p:cNvPr id="15" name="Head1"/>
          <p:cNvSpPr/>
          <p:nvPr/>
        </p:nvSpPr>
        <p:spPr>
          <a:xfrm>
            <a:off x="2729480" y="2060000"/>
            <a:ext cx="2137680" cy="900000"/>
          </a:xfrm>
          <a:prstGeom prst="rect">
            <a:avLst/>
          </a:prstGeom>
          <a:solidFill>
            <a:srgbClr val="0F9ED5"/>
          </a:solidFill>
          <a:ln>
            <a:noFill/>
          </a:ln>
        </p:spPr>
        <p:txBody>
          <a:bodyPr lIns="137160" tIns="91440" rIns="137160" bIns="91440" anchor="t">
            <a:normAutofit/>
          </a:bodyPr>
          <a:lstStyle/>
          <a:p>
            <a:pPr marL="0" indent="0" algn="l">
              <a:buNone/>
            </a:pPr>
            <a:r>
              <a:rPr lang="en-US" sz="1400" b="1">
                <a:solidFill>
                  <a:srgbClr val="FFFFFF"/>
                </a:solidFill>
                <a:latin typeface="Aptos"/>
              </a:rPr>
              <a:t>2</a:t>
            </a:r>
          </a:p>
          <a:p>
            <a:pPr marL="0" indent="0" algn="l">
              <a:buNone/>
            </a:pPr>
            <a:r>
              <a:rPr lang="en-US" sz="1200" b="1">
                <a:solidFill>
                  <a:srgbClr val="FFFFFF"/>
                </a:solidFill>
                <a:latin typeface="Aptos"/>
              </a:rPr>
              <a:t>Span-Extraction Tuning Only</a:t>
            </a:r>
          </a:p>
        </p:txBody>
      </p:sp>
      <p:sp>
        <p:nvSpPr>
          <p:cNvPr id="16" name="Body1"/>
          <p:cNvSpPr/>
          <p:nvPr/>
        </p:nvSpPr>
        <p:spPr>
          <a:xfrm>
            <a:off x="2729480" y="2960000"/>
            <a:ext cx="2137680" cy="1500000"/>
          </a:xfrm>
          <a:prstGeom prst="rect">
            <a:avLst/>
          </a:prstGeom>
          <a:solidFill>
            <a:srgbClr val="F4F6F8"/>
          </a:solidFill>
          <a:ln w="12700">
            <a:solidFill>
              <a:srgbClr val="D9DEE3"/>
            </a:solidFill>
          </a:ln>
        </p:spPr>
        <p:txBody>
          <a:bodyPr lIns="137160" tIns="91440" rIns="137160" bIns="91440" anchor="t">
            <a:normAutofit/>
          </a:bodyPr>
          <a:lstStyle/>
          <a:p>
            <a:pPr marL="0" indent="0" algn="l">
              <a:buNone/>
            </a:pPr>
            <a:r>
              <a:rPr lang="en-US" sz="1000" b="0" dirty="0">
                <a:solidFill>
                  <a:srgbClr val="0E2841"/>
                </a:solidFill>
                <a:latin typeface="Aptos"/>
              </a:rPr>
              <a:t>No knowledge injection. The model is tuned only on the retracted-claim span extraction task, so it learns the task without ever being told which </a:t>
            </a:r>
            <a:r>
              <a:rPr lang="en-US" sz="1000" dirty="0">
                <a:solidFill>
                  <a:srgbClr val="0E2841"/>
                </a:solidFill>
                <a:latin typeface="Aptos"/>
              </a:rPr>
              <a:t>claims</a:t>
            </a:r>
            <a:r>
              <a:rPr lang="en-US" sz="1000" b="0" dirty="0">
                <a:solidFill>
                  <a:srgbClr val="0E2841"/>
                </a:solidFill>
                <a:latin typeface="Aptos"/>
              </a:rPr>
              <a:t> are retracted.</a:t>
            </a:r>
          </a:p>
        </p:txBody>
      </p:sp>
      <p:sp>
        <p:nvSpPr>
          <p:cNvPr id="17" name="Head2"/>
          <p:cNvSpPr/>
          <p:nvPr/>
        </p:nvSpPr>
        <p:spPr>
          <a:xfrm>
            <a:off x="5027160" y="2060000"/>
            <a:ext cx="2137680" cy="900000"/>
          </a:xfrm>
          <a:prstGeom prst="rect">
            <a:avLst/>
          </a:prstGeom>
          <a:solidFill>
            <a:srgbClr val="156082"/>
          </a:solidFill>
          <a:ln>
            <a:noFill/>
          </a:ln>
        </p:spPr>
        <p:txBody>
          <a:bodyPr lIns="137160" tIns="91440" rIns="137160" bIns="91440" anchor="t">
            <a:normAutofit/>
          </a:bodyPr>
          <a:lstStyle/>
          <a:p>
            <a:pPr marL="0" indent="0" algn="l">
              <a:buNone/>
            </a:pPr>
            <a:r>
              <a:rPr lang="en-US" sz="1400" b="1">
                <a:solidFill>
                  <a:srgbClr val="FFFFFF"/>
                </a:solidFill>
                <a:latin typeface="Aptos"/>
              </a:rPr>
              <a:t>3</a:t>
            </a:r>
          </a:p>
          <a:p>
            <a:pPr marL="0" indent="0" algn="l">
              <a:buNone/>
            </a:pPr>
            <a:r>
              <a:rPr lang="en-US" sz="1200" b="1">
                <a:solidFill>
                  <a:srgbClr val="FFFFFF"/>
                </a:solidFill>
                <a:latin typeface="Aptos"/>
              </a:rPr>
              <a:t>Sequential Injection + Tuning</a:t>
            </a:r>
          </a:p>
        </p:txBody>
      </p:sp>
      <p:sp>
        <p:nvSpPr>
          <p:cNvPr id="18" name="Body2"/>
          <p:cNvSpPr/>
          <p:nvPr/>
        </p:nvSpPr>
        <p:spPr>
          <a:xfrm>
            <a:off x="5027160" y="2960000"/>
            <a:ext cx="2137680" cy="1500000"/>
          </a:xfrm>
          <a:prstGeom prst="rect">
            <a:avLst/>
          </a:prstGeom>
          <a:solidFill>
            <a:srgbClr val="F4F6F8"/>
          </a:solidFill>
          <a:ln w="12700">
            <a:solidFill>
              <a:srgbClr val="D9DEE3"/>
            </a:solidFill>
          </a:ln>
        </p:spPr>
        <p:txBody>
          <a:bodyPr lIns="137160" tIns="91440" rIns="137160" bIns="91440" anchor="t">
            <a:normAutofit/>
          </a:bodyPr>
          <a:lstStyle/>
          <a:p>
            <a:pPr marL="0" indent="0" algn="l">
              <a:buNone/>
            </a:pPr>
            <a:r>
              <a:rPr lang="en-US" sz="1000" b="0">
                <a:solidFill>
                  <a:srgbClr val="0E2841"/>
                </a:solidFill>
                <a:latin typeface="Aptos"/>
              </a:rPr>
              <a:t>Retracted-claim knowledge is injected into the weights first, then span-extraction tuning follows as a separate second stage.</a:t>
            </a:r>
          </a:p>
        </p:txBody>
      </p:sp>
      <p:sp>
        <p:nvSpPr>
          <p:cNvPr id="19" name="Head3"/>
          <p:cNvSpPr/>
          <p:nvPr/>
        </p:nvSpPr>
        <p:spPr>
          <a:xfrm>
            <a:off x="7324840" y="2060000"/>
            <a:ext cx="2137680" cy="900000"/>
          </a:xfrm>
          <a:prstGeom prst="rect">
            <a:avLst/>
          </a:prstGeom>
          <a:solidFill>
            <a:srgbClr val="0E2841"/>
          </a:solidFill>
          <a:ln>
            <a:noFill/>
          </a:ln>
        </p:spPr>
        <p:txBody>
          <a:bodyPr lIns="137160" tIns="91440" rIns="137160" bIns="91440" anchor="t">
            <a:normAutofit/>
          </a:bodyPr>
          <a:lstStyle/>
          <a:p>
            <a:pPr marL="0" indent="0" algn="l">
              <a:buNone/>
            </a:pPr>
            <a:r>
              <a:rPr lang="en-US" sz="1400" b="1">
                <a:solidFill>
                  <a:srgbClr val="FFFFFF"/>
                </a:solidFill>
                <a:latin typeface="Aptos"/>
              </a:rPr>
              <a:t>4</a:t>
            </a:r>
          </a:p>
          <a:p>
            <a:pPr marL="0" indent="0" algn="l">
              <a:buNone/>
            </a:pPr>
            <a:r>
              <a:rPr lang="en-US" sz="1200" b="1">
                <a:solidFill>
                  <a:srgbClr val="FFFFFF"/>
                </a:solidFill>
                <a:latin typeface="Aptos"/>
              </a:rPr>
              <a:t>Replay-Based Injection + Tuning</a:t>
            </a:r>
          </a:p>
        </p:txBody>
      </p:sp>
      <p:sp>
        <p:nvSpPr>
          <p:cNvPr id="20" name="Body3"/>
          <p:cNvSpPr/>
          <p:nvPr/>
        </p:nvSpPr>
        <p:spPr>
          <a:xfrm>
            <a:off x="7324840" y="2960000"/>
            <a:ext cx="2137680" cy="1500000"/>
          </a:xfrm>
          <a:prstGeom prst="rect">
            <a:avLst/>
          </a:prstGeom>
          <a:solidFill>
            <a:srgbClr val="F4F6F8"/>
          </a:solidFill>
          <a:ln w="12700">
            <a:solidFill>
              <a:srgbClr val="D9DEE3"/>
            </a:solidFill>
          </a:ln>
        </p:spPr>
        <p:txBody>
          <a:bodyPr lIns="137160" tIns="91440" rIns="137160" bIns="91440" anchor="t">
            <a:normAutofit/>
          </a:bodyPr>
          <a:lstStyle/>
          <a:p>
            <a:pPr marL="0" indent="0" algn="l">
              <a:buNone/>
            </a:pPr>
            <a:r>
              <a:rPr lang="en-US" sz="1000" b="0" dirty="0">
                <a:solidFill>
                  <a:srgbClr val="0E2841"/>
                </a:solidFill>
                <a:latin typeface="Aptos"/>
              </a:rPr>
              <a:t>Like a student revising an earlier subject, injection steps are interleaved with span tuning (all injection, </a:t>
            </a:r>
            <a:r>
              <a:rPr lang="en-US" sz="1000" dirty="0">
                <a:solidFill>
                  <a:srgbClr val="0E2841"/>
                </a:solidFill>
                <a:latin typeface="Aptos"/>
              </a:rPr>
              <a:t>all</a:t>
            </a:r>
            <a:r>
              <a:rPr lang="en-US" sz="1000" b="0" dirty="0">
                <a:solidFill>
                  <a:srgbClr val="0E2841"/>
                </a:solidFill>
                <a:latin typeface="Aptos"/>
              </a:rPr>
              <a:t> span) so the retraction knowledge is not forgotten while the task is learnt.</a:t>
            </a:r>
          </a:p>
        </p:txBody>
      </p:sp>
      <p:sp>
        <p:nvSpPr>
          <p:cNvPr id="21" name="Head4"/>
          <p:cNvSpPr/>
          <p:nvPr/>
        </p:nvSpPr>
        <p:spPr>
          <a:xfrm>
            <a:off x="9622520" y="2060000"/>
            <a:ext cx="2137680" cy="900000"/>
          </a:xfrm>
          <a:prstGeom prst="rect">
            <a:avLst/>
          </a:prstGeom>
          <a:solidFill>
            <a:srgbClr val="1E6B3A"/>
          </a:solidFill>
          <a:ln>
            <a:noFill/>
          </a:ln>
        </p:spPr>
        <p:txBody>
          <a:bodyPr lIns="137160" tIns="91440" rIns="137160" bIns="91440" anchor="t">
            <a:normAutofit/>
          </a:bodyPr>
          <a:lstStyle/>
          <a:p>
            <a:pPr marL="0" indent="0" algn="l">
              <a:buNone/>
            </a:pPr>
            <a:r>
              <a:rPr lang="en-US" sz="1400" b="1">
                <a:solidFill>
                  <a:srgbClr val="FFFFFF"/>
                </a:solidFill>
                <a:latin typeface="Aptos"/>
              </a:rPr>
              <a:t>5</a:t>
            </a:r>
          </a:p>
          <a:p>
            <a:pPr marL="0" indent="0" algn="l">
              <a:buNone/>
            </a:pPr>
            <a:r>
              <a:rPr lang="en-US" sz="1200" b="1">
                <a:solidFill>
                  <a:srgbClr val="FFFFFF"/>
                </a:solidFill>
                <a:latin typeface="Aptos"/>
              </a:rPr>
              <a:t>Weighted-Ratio Injection + Tuning</a:t>
            </a:r>
          </a:p>
        </p:txBody>
      </p:sp>
      <p:sp>
        <p:nvSpPr>
          <p:cNvPr id="22" name="Body4"/>
          <p:cNvSpPr/>
          <p:nvPr/>
        </p:nvSpPr>
        <p:spPr>
          <a:xfrm>
            <a:off x="9622520" y="2960000"/>
            <a:ext cx="2137680" cy="1500000"/>
          </a:xfrm>
          <a:prstGeom prst="rect">
            <a:avLst/>
          </a:prstGeom>
          <a:solidFill>
            <a:srgbClr val="F4F6F8"/>
          </a:solidFill>
          <a:ln w="12700">
            <a:solidFill>
              <a:srgbClr val="D9DEE3"/>
            </a:solidFill>
          </a:ln>
        </p:spPr>
        <p:txBody>
          <a:bodyPr lIns="137160" tIns="91440" rIns="137160" bIns="91440" anchor="t">
            <a:normAutofit/>
          </a:bodyPr>
          <a:lstStyle/>
          <a:p>
            <a:pPr marL="0" indent="0" algn="l">
              <a:buNone/>
            </a:pPr>
            <a:r>
              <a:rPr lang="en-US" sz="1000" b="0">
                <a:solidFill>
                  <a:srgbClr val="0E2841"/>
                </a:solidFill>
                <a:latin typeface="Aptos"/>
              </a:rPr>
              <a:t>The injection-to-span mix is scheduled across epochs, starting 80% injection / 20% span and shifting gradually to 20% / 80% by the final epoch.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137160" tIns="91440" rIns="137160" bIns="91440" anchor="t">
            <a:normAutofit lnSpcReduction="10000"/>
          </a:bodyPr>
          <a:lstStyle/>
          <a:p>
            <a:pPr marL="0" indent="0" algn="l">
              <a:buNone/>
            </a:pPr>
            <a:r>
              <a:rPr lang="en-US" sz="2800" b="1">
                <a:solidFill>
                  <a:srgbClr val="0E2841"/>
                </a:solidFill>
                <a:latin typeface="Aptos"/>
              </a:rPr>
              <a:t>Retrieval-Based Design: Span Extraction Results</a:t>
            </a:r>
          </a:p>
        </p:txBody>
      </p:sp>
      <p:sp>
        <p:nvSpPr>
          <p:cNvPr id="11" name="Rule"/>
          <p:cNvSpPr/>
          <p:nvPr/>
        </p:nvSpPr>
        <p:spPr>
          <a:xfrm>
            <a:off x="431800" y="1080000"/>
            <a:ext cx="11328400" cy="27432"/>
          </a:xfrm>
          <a:prstGeom prst="rect">
            <a:avLst/>
          </a:prstGeom>
          <a:solidFill>
            <a:srgbClr val="0E2841"/>
          </a:solidFill>
          <a:ln>
            <a:noFill/>
          </a:ln>
        </p:spPr>
        <p:txBody>
          <a:bodyPr lIns="137160" tIns="91440" rIns="137160" bIns="91440" anchor="t">
            <a:normAutofit fontScale="25000" lnSpcReduction="20000"/>
          </a:bodyPr>
          <a:lstStyle/>
          <a:p>
            <a:endParaRPr/>
          </a:p>
        </p:txBody>
      </p:sp>
      <p:sp>
        <p:nvSpPr>
          <p:cNvPr id="12" name="Subtitle"/>
          <p:cNvSpPr/>
          <p:nvPr/>
        </p:nvSpPr>
        <p:spPr>
          <a:xfrm>
            <a:off x="431800" y="1180000"/>
            <a:ext cx="11328400" cy="600000"/>
          </a:xfrm>
          <a:prstGeom prst="rect">
            <a:avLst/>
          </a:prstGeom>
          <a:solidFill>
            <a:srgbClr val="FFFFFF"/>
          </a:solidFill>
          <a:ln>
            <a:noFill/>
          </a:ln>
        </p:spPr>
        <p:txBody>
          <a:bodyPr lIns="137160" tIns="91440" rIns="137160" bIns="91440" anchor="t">
            <a:normAutofit/>
          </a:bodyPr>
          <a:lstStyle/>
          <a:p>
            <a:pPr marL="0" indent="0" algn="l">
              <a:buNone/>
            </a:pPr>
            <a:r>
              <a:rPr lang="en-US" sz="1200" b="1">
                <a:solidFill>
                  <a:srgbClr val="0E2841"/>
                </a:solidFill>
                <a:latin typeface="Aptos"/>
              </a:rPr>
              <a:t>Setup: </a:t>
            </a:r>
            <a:r>
              <a:rPr lang="en-US" sz="1200" b="0">
                <a:solidFill>
                  <a:srgbClr val="44546A"/>
                </a:solidFill>
                <a:latin typeface="Aptos"/>
              </a:rPr>
              <a:t>BERT (DeBERTa-v3-base) usage + BIO span heads with SciNCL top-5 claim retrieval at inference. Scores are means ± standard deviation across 9-fold cross-validation.</a:t>
            </a:r>
          </a:p>
        </p:txBody>
      </p:sp>
      <p:sp>
        <p:nvSpPr>
          <p:cNvPr id="20" name="Head0"/>
          <p:cNvSpPr/>
          <p:nvPr/>
        </p:nvSpPr>
        <p:spPr>
          <a:xfrm>
            <a:off x="431800" y="2050000"/>
            <a:ext cx="3666800" cy="440000"/>
          </a:xfrm>
          <a:prstGeom prst="rect">
            <a:avLst/>
          </a:prstGeom>
          <a:solidFill>
            <a:srgbClr val="0E2841"/>
          </a:solidFill>
          <a:ln>
            <a:noFill/>
          </a:ln>
        </p:spPr>
        <p:txBody>
          <a:bodyPr lIns="137160" tIns="91440" rIns="137160" bIns="91440" anchor="ctr">
            <a:normAutofit/>
          </a:bodyPr>
          <a:lstStyle/>
          <a:p>
            <a:pPr marL="0" indent="0" algn="l">
              <a:buNone/>
            </a:pPr>
            <a:r>
              <a:rPr lang="en-US" sz="1400" b="1">
                <a:solidFill>
                  <a:srgbClr val="FFFFFF"/>
                </a:solidFill>
                <a:latin typeface="Aptos"/>
              </a:rPr>
              <a:t>Binary detection</a:t>
            </a:r>
          </a:p>
        </p:txBody>
      </p:sp>
      <p:sp>
        <p:nvSpPr>
          <p:cNvPr id="21" name="Body0"/>
          <p:cNvSpPr/>
          <p:nvPr/>
        </p:nvSpPr>
        <p:spPr>
          <a:xfrm>
            <a:off x="431800" y="2490000"/>
            <a:ext cx="3666800" cy="2050000"/>
          </a:xfrm>
          <a:prstGeom prst="rect">
            <a:avLst/>
          </a:prstGeom>
          <a:solidFill>
            <a:srgbClr val="F2F5F9"/>
          </a:solidFill>
          <a:ln>
            <a:noFill/>
          </a:ln>
        </p:spPr>
        <p:txBody>
          <a:bodyPr lIns="137160" tIns="91440" rIns="137160" bIns="91440" anchor="t">
            <a:normAutofit/>
          </a:bodyPr>
          <a:lstStyle/>
          <a:p>
            <a:pPr marL="0" indent="0" algn="l">
              <a:buNone/>
            </a:pPr>
            <a:r>
              <a:rPr lang="en-US" sz="1200" b="0" dirty="0">
                <a:solidFill>
                  <a:srgbClr val="44546A"/>
                </a:solidFill>
                <a:latin typeface="Aptos"/>
              </a:rPr>
              <a:t>Accuracy  </a:t>
            </a:r>
            <a:r>
              <a:rPr lang="en-US" sz="1600" b="1" dirty="0">
                <a:solidFill>
                  <a:srgbClr val="0E2841"/>
                </a:solidFill>
                <a:latin typeface="Aptos"/>
              </a:rPr>
              <a:t>84.10%</a:t>
            </a:r>
            <a:r>
              <a:rPr lang="en-US" sz="1100" b="0" dirty="0">
                <a:solidFill>
                  <a:srgbClr val="7F8FA6"/>
                </a:solidFill>
                <a:latin typeface="Aptos"/>
              </a:rPr>
              <a:t> ± 5.29</a:t>
            </a:r>
          </a:p>
          <a:p>
            <a:pPr marL="0" indent="0" algn="l">
              <a:buNone/>
            </a:pPr>
            <a:endParaRPr lang="en-US" sz="1100" b="0" dirty="0">
              <a:solidFill>
                <a:srgbClr val="7F8FA6"/>
              </a:solidFill>
              <a:latin typeface="Aptos"/>
            </a:endParaRPr>
          </a:p>
          <a:p>
            <a:pPr marL="0" indent="0" algn="l">
              <a:buNone/>
            </a:pPr>
            <a:endParaRPr sz="400" dirty="0"/>
          </a:p>
        </p:txBody>
      </p:sp>
      <p:sp>
        <p:nvSpPr>
          <p:cNvPr id="22" name="Head1"/>
          <p:cNvSpPr/>
          <p:nvPr/>
        </p:nvSpPr>
        <p:spPr>
          <a:xfrm>
            <a:off x="4262600" y="2050000"/>
            <a:ext cx="3666800" cy="440000"/>
          </a:xfrm>
          <a:prstGeom prst="rect">
            <a:avLst/>
          </a:prstGeom>
          <a:solidFill>
            <a:srgbClr val="2E75B6"/>
          </a:solidFill>
          <a:ln>
            <a:noFill/>
          </a:ln>
        </p:spPr>
        <p:txBody>
          <a:bodyPr lIns="137160" tIns="91440" rIns="137160" bIns="91440" anchor="ctr">
            <a:normAutofit/>
          </a:bodyPr>
          <a:lstStyle/>
          <a:p>
            <a:pPr marL="0" indent="0" algn="l">
              <a:buNone/>
            </a:pPr>
            <a:r>
              <a:rPr lang="en-US" sz="1400" b="1">
                <a:solidFill>
                  <a:srgbClr val="FFFFFF"/>
                </a:solidFill>
                <a:latin typeface="Aptos"/>
              </a:rPr>
              <a:t>Character overlap — micro</a:t>
            </a:r>
          </a:p>
        </p:txBody>
      </p:sp>
      <p:sp>
        <p:nvSpPr>
          <p:cNvPr id="23" name="Body1"/>
          <p:cNvSpPr/>
          <p:nvPr/>
        </p:nvSpPr>
        <p:spPr>
          <a:xfrm>
            <a:off x="4262600" y="2490000"/>
            <a:ext cx="3666800" cy="2050000"/>
          </a:xfrm>
          <a:prstGeom prst="rect">
            <a:avLst/>
          </a:prstGeom>
          <a:solidFill>
            <a:srgbClr val="F2F5F9"/>
          </a:solidFill>
          <a:ln>
            <a:noFill/>
          </a:ln>
        </p:spPr>
        <p:txBody>
          <a:bodyPr lIns="137160" tIns="91440" rIns="137160" bIns="91440" anchor="t">
            <a:normAutofit/>
          </a:bodyPr>
          <a:lstStyle/>
          <a:p>
            <a:pPr marL="0" indent="0" algn="l">
              <a:buNone/>
            </a:pPr>
            <a:r>
              <a:rPr lang="en-US" sz="1200" b="0">
                <a:solidFill>
                  <a:srgbClr val="44546A"/>
                </a:solidFill>
                <a:latin typeface="Aptos"/>
              </a:rPr>
              <a:t>Precision  </a:t>
            </a:r>
            <a:r>
              <a:rPr lang="en-US" sz="1600" b="1">
                <a:solidFill>
                  <a:srgbClr val="2E75B6"/>
                </a:solidFill>
                <a:latin typeface="Aptos"/>
              </a:rPr>
              <a:t>0.7469</a:t>
            </a:r>
            <a:r>
              <a:rPr lang="en-US" sz="1100" b="0">
                <a:solidFill>
                  <a:srgbClr val="7F8FA6"/>
                </a:solidFill>
                <a:latin typeface="Aptos"/>
              </a:rPr>
              <a:t> ± 0.0841</a:t>
            </a:r>
          </a:p>
          <a:p>
            <a:pPr marL="0" indent="0" algn="l">
              <a:buNone/>
            </a:pPr>
            <a:endParaRPr sz="400"/>
          </a:p>
          <a:p>
            <a:pPr marL="0" indent="0" algn="l">
              <a:buNone/>
            </a:pPr>
            <a:r>
              <a:rPr lang="en-US" sz="1200" b="0">
                <a:solidFill>
                  <a:srgbClr val="44546A"/>
                </a:solidFill>
                <a:latin typeface="Aptos"/>
              </a:rPr>
              <a:t>Recall  </a:t>
            </a:r>
            <a:r>
              <a:rPr lang="en-US" sz="1600" b="1">
                <a:solidFill>
                  <a:srgbClr val="2E75B6"/>
                </a:solidFill>
                <a:latin typeface="Aptos"/>
              </a:rPr>
              <a:t>0.6773</a:t>
            </a:r>
            <a:r>
              <a:rPr lang="en-US" sz="1100" b="0">
                <a:solidFill>
                  <a:srgbClr val="7F8FA6"/>
                </a:solidFill>
                <a:latin typeface="Aptos"/>
              </a:rPr>
              <a:t> ± 0.1248</a:t>
            </a:r>
          </a:p>
          <a:p>
            <a:pPr marL="0" indent="0" algn="l">
              <a:buNone/>
            </a:pPr>
            <a:endParaRPr sz="400"/>
          </a:p>
          <a:p>
            <a:pPr marL="0" indent="0" algn="l">
              <a:buNone/>
            </a:pPr>
            <a:r>
              <a:rPr lang="en-US" sz="1200" b="0">
                <a:solidFill>
                  <a:srgbClr val="44546A"/>
                </a:solidFill>
                <a:latin typeface="Aptos"/>
              </a:rPr>
              <a:t>F1  </a:t>
            </a:r>
            <a:r>
              <a:rPr lang="en-US" sz="1600" b="1">
                <a:solidFill>
                  <a:srgbClr val="2E75B6"/>
                </a:solidFill>
                <a:latin typeface="Aptos"/>
              </a:rPr>
              <a:t>0.7071</a:t>
            </a:r>
            <a:r>
              <a:rPr lang="en-US" sz="1100" b="0">
                <a:solidFill>
                  <a:srgbClr val="7F8FA6"/>
                </a:solidFill>
                <a:latin typeface="Aptos"/>
              </a:rPr>
              <a:t> ± 0.0983</a:t>
            </a:r>
          </a:p>
          <a:p>
            <a:pPr marL="0" indent="0" algn="l">
              <a:buNone/>
            </a:pPr>
            <a:endParaRPr sz="400"/>
          </a:p>
          <a:p>
            <a:pPr marL="0" indent="0" algn="l">
              <a:buNone/>
            </a:pPr>
            <a:r>
              <a:rPr lang="en-US" sz="1200" b="0">
                <a:solidFill>
                  <a:srgbClr val="44546A"/>
                </a:solidFill>
                <a:latin typeface="Aptos"/>
              </a:rPr>
              <a:t>IoU  </a:t>
            </a:r>
            <a:r>
              <a:rPr lang="en-US" sz="1600" b="1">
                <a:solidFill>
                  <a:srgbClr val="2E75B6"/>
                </a:solidFill>
                <a:latin typeface="Aptos"/>
              </a:rPr>
              <a:t>0.5562</a:t>
            </a:r>
            <a:r>
              <a:rPr lang="en-US" sz="1100" b="0">
                <a:solidFill>
                  <a:srgbClr val="7F8FA6"/>
                </a:solidFill>
                <a:latin typeface="Aptos"/>
              </a:rPr>
              <a:t> ± 0.1228</a:t>
            </a:r>
          </a:p>
          <a:p>
            <a:pPr marL="0" indent="0" algn="l">
              <a:buNone/>
            </a:pPr>
            <a:endParaRPr sz="400"/>
          </a:p>
        </p:txBody>
      </p:sp>
      <p:sp>
        <p:nvSpPr>
          <p:cNvPr id="24" name="Head2"/>
          <p:cNvSpPr/>
          <p:nvPr/>
        </p:nvSpPr>
        <p:spPr>
          <a:xfrm>
            <a:off x="8093400" y="2050000"/>
            <a:ext cx="3666800" cy="440000"/>
          </a:xfrm>
          <a:prstGeom prst="rect">
            <a:avLst/>
          </a:prstGeom>
          <a:solidFill>
            <a:srgbClr val="1F6F6F"/>
          </a:solidFill>
          <a:ln>
            <a:noFill/>
          </a:ln>
        </p:spPr>
        <p:txBody>
          <a:bodyPr lIns="137160" tIns="91440" rIns="137160" bIns="91440" anchor="ctr">
            <a:normAutofit/>
          </a:bodyPr>
          <a:lstStyle/>
          <a:p>
            <a:pPr marL="0" indent="0" algn="l">
              <a:buNone/>
            </a:pPr>
            <a:r>
              <a:rPr lang="en-US" sz="1400" b="1">
                <a:solidFill>
                  <a:srgbClr val="FFFFFF"/>
                </a:solidFill>
                <a:latin typeface="Aptos"/>
              </a:rPr>
              <a:t>Character overlap — macro</a:t>
            </a:r>
          </a:p>
        </p:txBody>
      </p:sp>
      <p:sp>
        <p:nvSpPr>
          <p:cNvPr id="25" name="Body2"/>
          <p:cNvSpPr/>
          <p:nvPr/>
        </p:nvSpPr>
        <p:spPr>
          <a:xfrm>
            <a:off x="8093400" y="2490000"/>
            <a:ext cx="3666800" cy="2050000"/>
          </a:xfrm>
          <a:prstGeom prst="rect">
            <a:avLst/>
          </a:prstGeom>
          <a:solidFill>
            <a:srgbClr val="F2F5F9"/>
          </a:solidFill>
          <a:ln>
            <a:noFill/>
          </a:ln>
        </p:spPr>
        <p:txBody>
          <a:bodyPr lIns="137160" tIns="91440" rIns="137160" bIns="91440" anchor="t">
            <a:normAutofit/>
          </a:bodyPr>
          <a:lstStyle/>
          <a:p>
            <a:pPr marL="0" indent="0" algn="l">
              <a:buNone/>
            </a:pPr>
            <a:r>
              <a:rPr lang="en-US" sz="1200" b="0">
                <a:solidFill>
                  <a:srgbClr val="44546A"/>
                </a:solidFill>
                <a:latin typeface="Aptos"/>
              </a:rPr>
              <a:t>Precision  </a:t>
            </a:r>
            <a:r>
              <a:rPr lang="en-US" sz="1600" b="1">
                <a:solidFill>
                  <a:srgbClr val="1F6F6F"/>
                </a:solidFill>
                <a:latin typeface="Aptos"/>
              </a:rPr>
              <a:t>0.8074</a:t>
            </a:r>
            <a:r>
              <a:rPr lang="en-US" sz="1100" b="0">
                <a:solidFill>
                  <a:srgbClr val="7F8FA6"/>
                </a:solidFill>
                <a:latin typeface="Aptos"/>
              </a:rPr>
              <a:t> ± 0.0667</a:t>
            </a:r>
          </a:p>
          <a:p>
            <a:pPr marL="0" indent="0" algn="l">
              <a:buNone/>
            </a:pPr>
            <a:endParaRPr sz="400"/>
          </a:p>
          <a:p>
            <a:pPr marL="0" indent="0" algn="l">
              <a:buNone/>
            </a:pPr>
            <a:r>
              <a:rPr lang="en-US" sz="1200" b="0">
                <a:solidFill>
                  <a:srgbClr val="44546A"/>
                </a:solidFill>
                <a:latin typeface="Aptos"/>
              </a:rPr>
              <a:t>Recall  </a:t>
            </a:r>
            <a:r>
              <a:rPr lang="en-US" sz="1600" b="1">
                <a:solidFill>
                  <a:srgbClr val="1F6F6F"/>
                </a:solidFill>
                <a:latin typeface="Aptos"/>
              </a:rPr>
              <a:t>0.8051</a:t>
            </a:r>
            <a:r>
              <a:rPr lang="en-US" sz="1100" b="0">
                <a:solidFill>
                  <a:srgbClr val="7F8FA6"/>
                </a:solidFill>
                <a:latin typeface="Aptos"/>
              </a:rPr>
              <a:t> ± 0.0727</a:t>
            </a:r>
          </a:p>
          <a:p>
            <a:pPr marL="0" indent="0" algn="l">
              <a:buNone/>
            </a:pPr>
            <a:endParaRPr sz="400"/>
          </a:p>
          <a:p>
            <a:pPr marL="0" indent="0" algn="l">
              <a:buNone/>
            </a:pPr>
            <a:r>
              <a:rPr lang="en-US" sz="1200" b="0">
                <a:solidFill>
                  <a:srgbClr val="44546A"/>
                </a:solidFill>
                <a:latin typeface="Aptos"/>
              </a:rPr>
              <a:t>F1  </a:t>
            </a:r>
            <a:r>
              <a:rPr lang="en-US" sz="1600" b="1">
                <a:solidFill>
                  <a:srgbClr val="1F6F6F"/>
                </a:solidFill>
                <a:latin typeface="Aptos"/>
              </a:rPr>
              <a:t>0.7949</a:t>
            </a:r>
            <a:r>
              <a:rPr lang="en-US" sz="1100" b="0">
                <a:solidFill>
                  <a:srgbClr val="7F8FA6"/>
                </a:solidFill>
                <a:latin typeface="Aptos"/>
              </a:rPr>
              <a:t> ± 0.0725</a:t>
            </a:r>
          </a:p>
          <a:p>
            <a:pPr marL="0" indent="0" algn="l">
              <a:buNone/>
            </a:pPr>
            <a:endParaRPr sz="400"/>
          </a:p>
          <a:p>
            <a:pPr marL="0" indent="0" algn="l">
              <a:buNone/>
            </a:pPr>
            <a:r>
              <a:rPr lang="en-US" sz="1200" b="0">
                <a:solidFill>
                  <a:srgbClr val="44546A"/>
                </a:solidFill>
                <a:latin typeface="Aptos"/>
              </a:rPr>
              <a:t>IoU  </a:t>
            </a:r>
            <a:r>
              <a:rPr lang="en-US" sz="1600" b="1">
                <a:solidFill>
                  <a:srgbClr val="1F6F6F"/>
                </a:solidFill>
                <a:latin typeface="Aptos"/>
              </a:rPr>
              <a:t>0.7714</a:t>
            </a:r>
            <a:r>
              <a:rPr lang="en-US" sz="1100" b="0">
                <a:solidFill>
                  <a:srgbClr val="7F8FA6"/>
                </a:solidFill>
                <a:latin typeface="Aptos"/>
              </a:rPr>
              <a:t> ± 0.0773</a:t>
            </a:r>
          </a:p>
          <a:p>
            <a:pPr marL="0" indent="0" algn="l">
              <a:buNone/>
            </a:pPr>
            <a:endParaRPr sz="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137160" tIns="91440" rIns="137160" bIns="91440" anchor="t">
            <a:normAutofit lnSpcReduction="10000"/>
          </a:bodyPr>
          <a:lstStyle/>
          <a:p>
            <a:pPr marL="0" indent="0" algn="l">
              <a:buNone/>
            </a:pPr>
            <a:r>
              <a:rPr lang="en-US" sz="2800" b="1">
                <a:solidFill>
                  <a:srgbClr val="0E2841"/>
                </a:solidFill>
                <a:latin typeface="Aptos"/>
              </a:rPr>
              <a:t>Results: Comparing the Five Training Variants</a:t>
            </a:r>
          </a:p>
        </p:txBody>
      </p:sp>
      <p:sp>
        <p:nvSpPr>
          <p:cNvPr id="11" name="Rule"/>
          <p:cNvSpPr/>
          <p:nvPr/>
        </p:nvSpPr>
        <p:spPr>
          <a:xfrm>
            <a:off x="431800" y="1080000"/>
            <a:ext cx="11328400" cy="27432"/>
          </a:xfrm>
          <a:prstGeom prst="rect">
            <a:avLst/>
          </a:prstGeom>
          <a:solidFill>
            <a:srgbClr val="0E2841"/>
          </a:solidFill>
          <a:ln>
            <a:noFill/>
          </a:ln>
        </p:spPr>
        <p:txBody>
          <a:bodyPr/>
          <a:lstStyle/>
          <a:p>
            <a:endParaRPr lang="en-US"/>
          </a:p>
        </p:txBody>
      </p:sp>
      <p:sp>
        <p:nvSpPr>
          <p:cNvPr id="12" name="Scope"/>
          <p:cNvSpPr/>
          <p:nvPr/>
        </p:nvSpPr>
        <p:spPr>
          <a:xfrm>
            <a:off x="431800" y="1170000"/>
            <a:ext cx="11328400" cy="330000"/>
          </a:xfrm>
          <a:prstGeom prst="rect">
            <a:avLst/>
          </a:prstGeom>
          <a:noFill/>
          <a:ln>
            <a:noFill/>
          </a:ln>
        </p:spPr>
        <p:txBody>
          <a:bodyPr lIns="0" tIns="0" rIns="0" bIns="0" anchor="t">
            <a:normAutofit/>
          </a:bodyPr>
          <a:lstStyle/>
          <a:p>
            <a:pPr marL="0" indent="0" algn="l">
              <a:buNone/>
            </a:pPr>
            <a:r>
              <a:rPr lang="en-US" sz="1300" dirty="0">
                <a:solidFill>
                  <a:srgbClr val="44546A"/>
                </a:solidFill>
                <a:latin typeface="Aptos"/>
              </a:rPr>
              <a:t>Evaluated on 94 gold examples (51 positive / 43 negative). All values in %. Higher is better.</a:t>
            </a:r>
          </a:p>
        </p:txBody>
      </p:sp>
      <p:graphicFrame>
        <p:nvGraphicFramePr>
          <p:cNvPr id="20" name="Results Table"/>
          <p:cNvGraphicFramePr>
            <a:graphicFrameLocks noGrp="1"/>
          </p:cNvGraphicFramePr>
          <p:nvPr/>
        </p:nvGraphicFramePr>
        <p:xfrm>
          <a:off x="431800" y="1560000"/>
          <a:ext cx="11328400" cy="2950000"/>
        </p:xfrm>
        <a:graphic>
          <a:graphicData uri="http://schemas.openxmlformats.org/drawingml/2006/table">
            <a:tbl>
              <a:tblPr firstRow="1"/>
              <a:tblGrid>
                <a:gridCol w="2728200">
                  <a:extLst>
                    <a:ext uri="{9D8B030D-6E8A-4147-A177-3AD203B41FA5}">
                      <a16:colId xmlns:a16="http://schemas.microsoft.com/office/drawing/2014/main" val="20000"/>
                    </a:ext>
                  </a:extLst>
                </a:gridCol>
                <a:gridCol w="1180000">
                  <a:extLst>
                    <a:ext uri="{9D8B030D-6E8A-4147-A177-3AD203B41FA5}">
                      <a16:colId xmlns:a16="http://schemas.microsoft.com/office/drawing/2014/main" val="20001"/>
                    </a:ext>
                  </a:extLst>
                </a:gridCol>
                <a:gridCol w="1180000">
                  <a:extLst>
                    <a:ext uri="{9D8B030D-6E8A-4147-A177-3AD203B41FA5}">
                      <a16:colId xmlns:a16="http://schemas.microsoft.com/office/drawing/2014/main" val="20002"/>
                    </a:ext>
                  </a:extLst>
                </a:gridCol>
                <a:gridCol w="1180000">
                  <a:extLst>
                    <a:ext uri="{9D8B030D-6E8A-4147-A177-3AD203B41FA5}">
                      <a16:colId xmlns:a16="http://schemas.microsoft.com/office/drawing/2014/main" val="20003"/>
                    </a:ext>
                  </a:extLst>
                </a:gridCol>
                <a:gridCol w="1180000">
                  <a:extLst>
                    <a:ext uri="{9D8B030D-6E8A-4147-A177-3AD203B41FA5}">
                      <a16:colId xmlns:a16="http://schemas.microsoft.com/office/drawing/2014/main" val="20004"/>
                    </a:ext>
                  </a:extLst>
                </a:gridCol>
                <a:gridCol w="1560000">
                  <a:extLst>
                    <a:ext uri="{9D8B030D-6E8A-4147-A177-3AD203B41FA5}">
                      <a16:colId xmlns:a16="http://schemas.microsoft.com/office/drawing/2014/main" val="20005"/>
                    </a:ext>
                  </a:extLst>
                </a:gridCol>
                <a:gridCol w="1560000">
                  <a:extLst>
                    <a:ext uri="{9D8B030D-6E8A-4147-A177-3AD203B41FA5}">
                      <a16:colId xmlns:a16="http://schemas.microsoft.com/office/drawing/2014/main" val="20006"/>
                    </a:ext>
                  </a:extLst>
                </a:gridCol>
                <a:gridCol w="760200">
                  <a:extLst>
                    <a:ext uri="{9D8B030D-6E8A-4147-A177-3AD203B41FA5}">
                      <a16:colId xmlns:a16="http://schemas.microsoft.com/office/drawing/2014/main" val="20007"/>
                    </a:ext>
                  </a:extLst>
                </a:gridCol>
              </a:tblGrid>
              <a:tr h="620000">
                <a:tc>
                  <a:txBody>
                    <a:bodyPr/>
                    <a:lstStyle/>
                    <a:p>
                      <a:pPr algn="l"/>
                      <a:r>
                        <a:rPr lang="en-US" sz="1200" b="1">
                          <a:solidFill>
                            <a:srgbClr val="FFFFFF"/>
                          </a:solidFill>
                          <a:latin typeface="Aptos"/>
                        </a:rPr>
                        <a:t>Method</a:t>
                      </a:r>
                    </a:p>
                  </a:txBody>
                  <a:tcPr anchor="ctr">
                    <a:solidFill>
                      <a:srgbClr val="0E2841"/>
                    </a:solidFill>
                  </a:tcPr>
                </a:tc>
                <a:tc>
                  <a:txBody>
                    <a:bodyPr/>
                    <a:lstStyle/>
                    <a:p>
                      <a:pPr algn="ctr"/>
                      <a:r>
                        <a:rPr lang="en-US" sz="1200" b="1">
                          <a:solidFill>
                            <a:srgbClr val="FFFFFF"/>
                          </a:solidFill>
                          <a:latin typeface="Aptos"/>
                        </a:rPr>
                        <a:t>Binary Acc.</a:t>
                      </a:r>
                    </a:p>
                  </a:txBody>
                  <a:tcPr marL="45720" marR="45720" anchor="ctr">
                    <a:solidFill>
                      <a:srgbClr val="0E2841"/>
                    </a:solidFill>
                  </a:tcPr>
                </a:tc>
                <a:tc>
                  <a:txBody>
                    <a:bodyPr/>
                    <a:lstStyle/>
                    <a:p>
                      <a:pPr algn="ctr"/>
                      <a:r>
                        <a:rPr lang="en-US" sz="1200" b="1">
                          <a:solidFill>
                            <a:srgbClr val="FFFFFF"/>
                          </a:solidFill>
                          <a:latin typeface="Aptos"/>
                        </a:rPr>
                        <a:t>Binary P</a:t>
                      </a:r>
                    </a:p>
                  </a:txBody>
                  <a:tcPr marL="45720" marR="45720" anchor="ctr">
                    <a:solidFill>
                      <a:srgbClr val="0E2841"/>
                    </a:solidFill>
                  </a:tcPr>
                </a:tc>
                <a:tc>
                  <a:txBody>
                    <a:bodyPr/>
                    <a:lstStyle/>
                    <a:p>
                      <a:pPr algn="ctr"/>
                      <a:r>
                        <a:rPr lang="en-US" sz="1200" b="1">
                          <a:solidFill>
                            <a:srgbClr val="FFFFFF"/>
                          </a:solidFill>
                          <a:latin typeface="Aptos"/>
                        </a:rPr>
                        <a:t>Binary R</a:t>
                      </a:r>
                    </a:p>
                  </a:txBody>
                  <a:tcPr marL="45720" marR="45720" anchor="ctr">
                    <a:solidFill>
                      <a:srgbClr val="0E2841"/>
                    </a:solidFill>
                  </a:tcPr>
                </a:tc>
                <a:tc>
                  <a:txBody>
                    <a:bodyPr/>
                    <a:lstStyle/>
                    <a:p>
                      <a:pPr algn="ctr"/>
                      <a:r>
                        <a:rPr lang="en-US" sz="1200" b="1">
                          <a:solidFill>
                            <a:srgbClr val="FFFFFF"/>
                          </a:solidFill>
                          <a:latin typeface="Aptos"/>
                        </a:rPr>
                        <a:t>Binary F1</a:t>
                      </a:r>
                    </a:p>
                  </a:txBody>
                  <a:tcPr marL="45720" marR="45720" anchor="ctr">
                    <a:solidFill>
                      <a:srgbClr val="0E2841"/>
                    </a:solidFill>
                  </a:tcPr>
                </a:tc>
                <a:tc>
                  <a:txBody>
                    <a:bodyPr/>
                    <a:lstStyle/>
                    <a:p>
                      <a:pPr algn="ctr"/>
                      <a:r>
                        <a:rPr lang="en-US" sz="1200" b="1">
                          <a:solidFill>
                            <a:srgbClr val="FFFFFF"/>
                          </a:solidFill>
                          <a:latin typeface="Aptos"/>
                        </a:rPr>
                        <a:t>Char F1 (micro)</a:t>
                      </a:r>
                    </a:p>
                  </a:txBody>
                  <a:tcPr marL="45720" marR="45720" anchor="ctr">
                    <a:solidFill>
                      <a:srgbClr val="0E2841"/>
                    </a:solidFill>
                  </a:tcPr>
                </a:tc>
                <a:tc>
                  <a:txBody>
                    <a:bodyPr/>
                    <a:lstStyle/>
                    <a:p>
                      <a:pPr algn="ctr"/>
                      <a:r>
                        <a:rPr lang="en-US" sz="1200" b="1">
                          <a:solidFill>
                            <a:srgbClr val="FFFFFF"/>
                          </a:solidFill>
                          <a:latin typeface="Aptos"/>
                        </a:rPr>
                        <a:t>Char F1 (macro)</a:t>
                      </a:r>
                    </a:p>
                  </a:txBody>
                  <a:tcPr marL="45720" marR="45720" anchor="ctr">
                    <a:solidFill>
                      <a:srgbClr val="0E2841"/>
                    </a:solidFill>
                  </a:tcPr>
                </a:tc>
                <a:tc>
                  <a:txBody>
                    <a:bodyPr/>
                    <a:lstStyle/>
                    <a:p>
                      <a:pPr algn="ctr"/>
                      <a:r>
                        <a:rPr lang="en-US" sz="1200" b="1">
                          <a:solidFill>
                            <a:srgbClr val="FFFFFF"/>
                          </a:solidFill>
                          <a:latin typeface="Aptos"/>
                        </a:rPr>
                        <a:t>IoU</a:t>
                      </a:r>
                    </a:p>
                  </a:txBody>
                  <a:tcPr marL="45720" marR="45720" anchor="ctr">
                    <a:solidFill>
                      <a:srgbClr val="0E2841"/>
                    </a:solidFill>
                  </a:tcPr>
                </a:tc>
                <a:extLst>
                  <a:ext uri="{0D108BD9-81ED-4DB2-BD59-A6C34878D82A}">
                    <a16:rowId xmlns:a16="http://schemas.microsoft.com/office/drawing/2014/main" val="10000"/>
                  </a:ext>
                </a:extLst>
              </a:tr>
              <a:tr h="466000">
                <a:tc>
                  <a:txBody>
                    <a:bodyPr/>
                    <a:lstStyle/>
                    <a:p>
                      <a:pPr algn="l"/>
                      <a:r>
                        <a:rPr lang="en-US" sz="1200" b="1">
                          <a:solidFill>
                            <a:srgbClr val="0E2841"/>
                          </a:solidFill>
                          <a:latin typeface="Aptos"/>
                        </a:rPr>
                        <a:t>1. No finetuning (baseline)</a:t>
                      </a:r>
                    </a:p>
                  </a:txBody>
                  <a:tcPr marT="36000" marB="36000" anchor="ctr">
                    <a:solidFill>
                      <a:srgbClr val="FFFFFF"/>
                    </a:solidFill>
                  </a:tcPr>
                </a:tc>
                <a:tc>
                  <a:txBody>
                    <a:bodyPr/>
                    <a:lstStyle/>
                    <a:p>
                      <a:pPr algn="ctr"/>
                      <a:r>
                        <a:rPr lang="en-US" sz="1200">
                          <a:solidFill>
                            <a:srgbClr val="333333"/>
                          </a:solidFill>
                          <a:latin typeface="Aptos"/>
                        </a:rPr>
                        <a:t>61.7</a:t>
                      </a:r>
                    </a:p>
                  </a:txBody>
                  <a:tcPr marL="45720" marR="45720" marT="36000" marB="36000" anchor="ctr">
                    <a:solidFill>
                      <a:srgbClr val="FFFFFF"/>
                    </a:solidFill>
                  </a:tcPr>
                </a:tc>
                <a:tc>
                  <a:txBody>
                    <a:bodyPr/>
                    <a:lstStyle/>
                    <a:p>
                      <a:pPr algn="ctr"/>
                      <a:r>
                        <a:rPr lang="en-US" sz="1200">
                          <a:solidFill>
                            <a:srgbClr val="333333"/>
                          </a:solidFill>
                          <a:latin typeface="Aptos"/>
                        </a:rPr>
                        <a:t>100.0</a:t>
                      </a:r>
                    </a:p>
                  </a:txBody>
                  <a:tcPr marL="45720" marR="45720" marT="36000" marB="36000" anchor="ctr">
                    <a:solidFill>
                      <a:srgbClr val="FFFFFF"/>
                    </a:solidFill>
                  </a:tcPr>
                </a:tc>
                <a:tc>
                  <a:txBody>
                    <a:bodyPr/>
                    <a:lstStyle/>
                    <a:p>
                      <a:pPr algn="ctr"/>
                      <a:r>
                        <a:rPr lang="en-US" sz="1200">
                          <a:solidFill>
                            <a:srgbClr val="333333"/>
                          </a:solidFill>
                          <a:latin typeface="Aptos"/>
                        </a:rPr>
                        <a:t>29.4</a:t>
                      </a:r>
                    </a:p>
                  </a:txBody>
                  <a:tcPr marL="45720" marR="45720" marT="36000" marB="36000" anchor="ctr">
                    <a:solidFill>
                      <a:srgbClr val="FFFFFF"/>
                    </a:solidFill>
                  </a:tcPr>
                </a:tc>
                <a:tc>
                  <a:txBody>
                    <a:bodyPr/>
                    <a:lstStyle/>
                    <a:p>
                      <a:pPr algn="ctr"/>
                      <a:r>
                        <a:rPr lang="en-US" sz="1200">
                          <a:solidFill>
                            <a:srgbClr val="333333"/>
                          </a:solidFill>
                          <a:latin typeface="Aptos"/>
                        </a:rPr>
                        <a:t>45.5</a:t>
                      </a:r>
                    </a:p>
                  </a:txBody>
                  <a:tcPr marL="45720" marR="45720" marT="36000" marB="36000" anchor="ctr">
                    <a:solidFill>
                      <a:srgbClr val="FFFFFF"/>
                    </a:solidFill>
                  </a:tcPr>
                </a:tc>
                <a:tc>
                  <a:txBody>
                    <a:bodyPr/>
                    <a:lstStyle/>
                    <a:p>
                      <a:pPr algn="ctr"/>
                      <a:r>
                        <a:rPr lang="en-US" sz="1200">
                          <a:solidFill>
                            <a:srgbClr val="333333"/>
                          </a:solidFill>
                          <a:latin typeface="Aptos"/>
                        </a:rPr>
                        <a:t>22.7</a:t>
                      </a:r>
                    </a:p>
                  </a:txBody>
                  <a:tcPr marL="45720" marR="45720" marT="36000" marB="36000" anchor="ctr">
                    <a:solidFill>
                      <a:srgbClr val="FFFFFF"/>
                    </a:solidFill>
                  </a:tcPr>
                </a:tc>
                <a:tc>
                  <a:txBody>
                    <a:bodyPr/>
                    <a:lstStyle/>
                    <a:p>
                      <a:pPr algn="ctr"/>
                      <a:r>
                        <a:rPr lang="en-US" sz="1200">
                          <a:solidFill>
                            <a:srgbClr val="333333"/>
                          </a:solidFill>
                          <a:latin typeface="Aptos"/>
                        </a:rPr>
                        <a:t>53.6</a:t>
                      </a:r>
                    </a:p>
                  </a:txBody>
                  <a:tcPr marL="45720" marR="45720" marT="36000" marB="36000" anchor="ctr">
                    <a:solidFill>
                      <a:srgbClr val="FFFFFF"/>
                    </a:solidFill>
                  </a:tcPr>
                </a:tc>
                <a:tc>
                  <a:txBody>
                    <a:bodyPr/>
                    <a:lstStyle/>
                    <a:p>
                      <a:pPr algn="ctr"/>
                      <a:r>
                        <a:rPr lang="en-US" sz="1200">
                          <a:solidFill>
                            <a:srgbClr val="333333"/>
                          </a:solidFill>
                          <a:latin typeface="Aptos"/>
                        </a:rPr>
                        <a:t>51.4</a:t>
                      </a:r>
                    </a:p>
                  </a:txBody>
                  <a:tcPr marL="45720" marR="45720" marT="36000" marB="36000" anchor="ctr">
                    <a:solidFill>
                      <a:srgbClr val="FFFFFF"/>
                    </a:solidFill>
                  </a:tcPr>
                </a:tc>
                <a:extLst>
                  <a:ext uri="{0D108BD9-81ED-4DB2-BD59-A6C34878D82A}">
                    <a16:rowId xmlns:a16="http://schemas.microsoft.com/office/drawing/2014/main" val="10001"/>
                  </a:ext>
                </a:extLst>
              </a:tr>
              <a:tr h="466000">
                <a:tc>
                  <a:txBody>
                    <a:bodyPr/>
                    <a:lstStyle/>
                    <a:p>
                      <a:pPr algn="l"/>
                      <a:r>
                        <a:rPr lang="en-US" sz="1200" b="1">
                          <a:solidFill>
                            <a:srgbClr val="0E2841"/>
                          </a:solidFill>
                          <a:latin typeface="Aptos"/>
                        </a:rPr>
                        <a:t>2. Span-extraction tuning only</a:t>
                      </a:r>
                    </a:p>
                  </a:txBody>
                  <a:tcPr marT="36000" marB="36000" anchor="ctr">
                    <a:solidFill>
                      <a:srgbClr val="F4F7FB"/>
                    </a:solidFill>
                  </a:tcPr>
                </a:tc>
                <a:tc>
                  <a:txBody>
                    <a:bodyPr/>
                    <a:lstStyle/>
                    <a:p>
                      <a:pPr algn="ctr"/>
                      <a:r>
                        <a:rPr lang="en-US" sz="1200">
                          <a:solidFill>
                            <a:srgbClr val="333333"/>
                          </a:solidFill>
                          <a:latin typeface="Aptos"/>
                        </a:rPr>
                        <a:t>84.0</a:t>
                      </a:r>
                    </a:p>
                  </a:txBody>
                  <a:tcPr marL="45720" marR="45720" marT="36000" marB="36000" anchor="ctr">
                    <a:solidFill>
                      <a:srgbClr val="F4F7FB"/>
                    </a:solidFill>
                  </a:tcPr>
                </a:tc>
                <a:tc>
                  <a:txBody>
                    <a:bodyPr/>
                    <a:lstStyle/>
                    <a:p>
                      <a:pPr algn="ctr"/>
                      <a:r>
                        <a:rPr lang="en-US" sz="1200">
                          <a:solidFill>
                            <a:srgbClr val="333333"/>
                          </a:solidFill>
                          <a:latin typeface="Aptos"/>
                        </a:rPr>
                        <a:t>92.9</a:t>
                      </a:r>
                    </a:p>
                  </a:txBody>
                  <a:tcPr marL="45720" marR="45720" marT="36000" marB="36000" anchor="ctr">
                    <a:solidFill>
                      <a:srgbClr val="F4F7FB"/>
                    </a:solidFill>
                  </a:tcPr>
                </a:tc>
                <a:tc>
                  <a:txBody>
                    <a:bodyPr/>
                    <a:lstStyle/>
                    <a:p>
                      <a:pPr algn="ctr"/>
                      <a:r>
                        <a:rPr lang="en-US" sz="1200">
                          <a:solidFill>
                            <a:srgbClr val="333333"/>
                          </a:solidFill>
                          <a:latin typeface="Aptos"/>
                        </a:rPr>
                        <a:t>76.5</a:t>
                      </a:r>
                    </a:p>
                  </a:txBody>
                  <a:tcPr marL="45720" marR="45720" marT="36000" marB="36000" anchor="ctr">
                    <a:solidFill>
                      <a:srgbClr val="F4F7FB"/>
                    </a:solidFill>
                  </a:tcPr>
                </a:tc>
                <a:tc>
                  <a:txBody>
                    <a:bodyPr/>
                    <a:lstStyle/>
                    <a:p>
                      <a:pPr algn="ctr"/>
                      <a:r>
                        <a:rPr lang="en-US" sz="1200">
                          <a:solidFill>
                            <a:srgbClr val="333333"/>
                          </a:solidFill>
                          <a:latin typeface="Aptos"/>
                        </a:rPr>
                        <a:t>83.9</a:t>
                      </a:r>
                    </a:p>
                  </a:txBody>
                  <a:tcPr marL="45720" marR="45720" marT="36000" marB="36000" anchor="ctr">
                    <a:solidFill>
                      <a:srgbClr val="F4F7FB"/>
                    </a:solidFill>
                  </a:tcPr>
                </a:tc>
                <a:tc>
                  <a:txBody>
                    <a:bodyPr/>
                    <a:lstStyle/>
                    <a:p>
                      <a:pPr algn="ctr"/>
                      <a:r>
                        <a:rPr lang="en-US" sz="1200">
                          <a:solidFill>
                            <a:srgbClr val="333333"/>
                          </a:solidFill>
                          <a:latin typeface="Aptos"/>
                        </a:rPr>
                        <a:t>52.5</a:t>
                      </a:r>
                    </a:p>
                  </a:txBody>
                  <a:tcPr marL="45720" marR="45720" marT="36000" marB="36000" anchor="ctr">
                    <a:solidFill>
                      <a:srgbClr val="F4F7FB"/>
                    </a:solidFill>
                  </a:tcPr>
                </a:tc>
                <a:tc>
                  <a:txBody>
                    <a:bodyPr/>
                    <a:lstStyle/>
                    <a:p>
                      <a:pPr algn="ctr"/>
                      <a:r>
                        <a:rPr lang="en-US" sz="1200">
                          <a:solidFill>
                            <a:srgbClr val="333333"/>
                          </a:solidFill>
                          <a:latin typeface="Aptos"/>
                        </a:rPr>
                        <a:t>71.6</a:t>
                      </a:r>
                    </a:p>
                  </a:txBody>
                  <a:tcPr marL="45720" marR="45720" marT="36000" marB="36000" anchor="ctr">
                    <a:solidFill>
                      <a:srgbClr val="F4F7FB"/>
                    </a:solidFill>
                  </a:tcPr>
                </a:tc>
                <a:tc>
                  <a:txBody>
                    <a:bodyPr/>
                    <a:lstStyle/>
                    <a:p>
                      <a:pPr algn="ctr"/>
                      <a:r>
                        <a:rPr lang="en-US" sz="1200">
                          <a:solidFill>
                            <a:srgbClr val="333333"/>
                          </a:solidFill>
                          <a:latin typeface="Aptos"/>
                        </a:rPr>
                        <a:t>68.2</a:t>
                      </a:r>
                    </a:p>
                  </a:txBody>
                  <a:tcPr marL="45720" marR="45720" marT="36000" marB="36000" anchor="ctr">
                    <a:solidFill>
                      <a:srgbClr val="F4F7FB"/>
                    </a:solidFill>
                  </a:tcPr>
                </a:tc>
                <a:extLst>
                  <a:ext uri="{0D108BD9-81ED-4DB2-BD59-A6C34878D82A}">
                    <a16:rowId xmlns:a16="http://schemas.microsoft.com/office/drawing/2014/main" val="10002"/>
                  </a:ext>
                </a:extLst>
              </a:tr>
              <a:tr h="466000">
                <a:tc>
                  <a:txBody>
                    <a:bodyPr/>
                    <a:lstStyle/>
                    <a:p>
                      <a:pPr algn="l"/>
                      <a:r>
                        <a:rPr lang="en-US" sz="1200" b="1">
                          <a:solidFill>
                            <a:srgbClr val="0E2841"/>
                          </a:solidFill>
                          <a:latin typeface="Aptos"/>
                        </a:rPr>
                        <a:t>3. Sequential injection + tuning</a:t>
                      </a:r>
                    </a:p>
                  </a:txBody>
                  <a:tcPr marT="36000" marB="36000" anchor="ctr">
                    <a:solidFill>
                      <a:srgbClr val="FFFFFF"/>
                    </a:solidFill>
                  </a:tcPr>
                </a:tc>
                <a:tc>
                  <a:txBody>
                    <a:bodyPr/>
                    <a:lstStyle/>
                    <a:p>
                      <a:pPr algn="ctr"/>
                      <a:r>
                        <a:rPr lang="en-US" sz="1200">
                          <a:solidFill>
                            <a:srgbClr val="333333"/>
                          </a:solidFill>
                          <a:latin typeface="Aptos"/>
                        </a:rPr>
                        <a:t>81.9</a:t>
                      </a:r>
                    </a:p>
                  </a:txBody>
                  <a:tcPr marL="45720" marR="45720" marT="36000" marB="36000" anchor="ctr">
                    <a:solidFill>
                      <a:srgbClr val="FFFFFF"/>
                    </a:solidFill>
                  </a:tcPr>
                </a:tc>
                <a:tc>
                  <a:txBody>
                    <a:bodyPr/>
                    <a:lstStyle/>
                    <a:p>
                      <a:pPr algn="ctr"/>
                      <a:r>
                        <a:rPr lang="en-US" sz="1200">
                          <a:solidFill>
                            <a:srgbClr val="333333"/>
                          </a:solidFill>
                          <a:latin typeface="Aptos"/>
                        </a:rPr>
                        <a:t>90.5</a:t>
                      </a:r>
                    </a:p>
                  </a:txBody>
                  <a:tcPr marL="45720" marR="45720" marT="36000" marB="36000" anchor="ctr">
                    <a:solidFill>
                      <a:srgbClr val="FFFFFF"/>
                    </a:solidFill>
                  </a:tcPr>
                </a:tc>
                <a:tc>
                  <a:txBody>
                    <a:bodyPr/>
                    <a:lstStyle/>
                    <a:p>
                      <a:pPr algn="ctr"/>
                      <a:r>
                        <a:rPr lang="en-US" sz="1200">
                          <a:solidFill>
                            <a:srgbClr val="333333"/>
                          </a:solidFill>
                          <a:latin typeface="Aptos"/>
                        </a:rPr>
                        <a:t>74.5</a:t>
                      </a:r>
                    </a:p>
                  </a:txBody>
                  <a:tcPr marL="45720" marR="45720" marT="36000" marB="36000" anchor="ctr">
                    <a:solidFill>
                      <a:srgbClr val="FFFFFF"/>
                    </a:solidFill>
                  </a:tcPr>
                </a:tc>
                <a:tc>
                  <a:txBody>
                    <a:bodyPr/>
                    <a:lstStyle/>
                    <a:p>
                      <a:pPr algn="ctr"/>
                      <a:r>
                        <a:rPr lang="en-US" sz="1200">
                          <a:solidFill>
                            <a:srgbClr val="333333"/>
                          </a:solidFill>
                          <a:latin typeface="Aptos"/>
                        </a:rPr>
                        <a:t>81.7</a:t>
                      </a:r>
                    </a:p>
                  </a:txBody>
                  <a:tcPr marL="45720" marR="45720" marT="36000" marB="36000" anchor="ctr">
                    <a:solidFill>
                      <a:srgbClr val="FFFFFF"/>
                    </a:solidFill>
                  </a:tcPr>
                </a:tc>
                <a:tc>
                  <a:txBody>
                    <a:bodyPr/>
                    <a:lstStyle/>
                    <a:p>
                      <a:pPr algn="ctr"/>
                      <a:r>
                        <a:rPr lang="en-US" sz="1200">
                          <a:solidFill>
                            <a:srgbClr val="333333"/>
                          </a:solidFill>
                          <a:latin typeface="Aptos"/>
                        </a:rPr>
                        <a:t>53.4</a:t>
                      </a:r>
                    </a:p>
                  </a:txBody>
                  <a:tcPr marL="45720" marR="45720" marT="36000" marB="36000" anchor="ctr">
                    <a:solidFill>
                      <a:srgbClr val="FFFFFF"/>
                    </a:solidFill>
                  </a:tcPr>
                </a:tc>
                <a:tc>
                  <a:txBody>
                    <a:bodyPr/>
                    <a:lstStyle/>
                    <a:p>
                      <a:pPr algn="ctr"/>
                      <a:r>
                        <a:rPr lang="en-US" sz="1200">
                          <a:solidFill>
                            <a:srgbClr val="333333"/>
                          </a:solidFill>
                          <a:latin typeface="Aptos"/>
                        </a:rPr>
                        <a:t>68.8</a:t>
                      </a:r>
                    </a:p>
                  </a:txBody>
                  <a:tcPr marL="45720" marR="45720" marT="36000" marB="36000" anchor="ctr">
                    <a:solidFill>
                      <a:srgbClr val="FFFFFF"/>
                    </a:solidFill>
                  </a:tcPr>
                </a:tc>
                <a:tc>
                  <a:txBody>
                    <a:bodyPr/>
                    <a:lstStyle/>
                    <a:p>
                      <a:pPr algn="ctr"/>
                      <a:r>
                        <a:rPr lang="en-US" sz="1200">
                          <a:solidFill>
                            <a:srgbClr val="333333"/>
                          </a:solidFill>
                          <a:latin typeface="Aptos"/>
                        </a:rPr>
                        <a:t>64.7</a:t>
                      </a:r>
                    </a:p>
                  </a:txBody>
                  <a:tcPr marL="45720" marR="45720" marT="36000" marB="36000" anchor="ctr">
                    <a:solidFill>
                      <a:srgbClr val="FFFFFF"/>
                    </a:solidFill>
                  </a:tcPr>
                </a:tc>
                <a:extLst>
                  <a:ext uri="{0D108BD9-81ED-4DB2-BD59-A6C34878D82A}">
                    <a16:rowId xmlns:a16="http://schemas.microsoft.com/office/drawing/2014/main" val="10003"/>
                  </a:ext>
                </a:extLst>
              </a:tr>
              <a:tr h="466000">
                <a:tc>
                  <a:txBody>
                    <a:bodyPr/>
                    <a:lstStyle/>
                    <a:p>
                      <a:pPr algn="l"/>
                      <a:r>
                        <a:rPr lang="en-US" sz="1200" b="1">
                          <a:solidFill>
                            <a:srgbClr val="0E2841"/>
                          </a:solidFill>
                          <a:latin typeface="Aptos"/>
                        </a:rPr>
                        <a:t>4. Replay-based injection + tuning</a:t>
                      </a:r>
                    </a:p>
                  </a:txBody>
                  <a:tcPr marT="36000" marB="36000" anchor="ctr">
                    <a:solidFill>
                      <a:srgbClr val="D3E3F3"/>
                    </a:solidFill>
                  </a:tcPr>
                </a:tc>
                <a:tc>
                  <a:txBody>
                    <a:bodyPr/>
                    <a:lstStyle/>
                    <a:p>
                      <a:pPr algn="ctr"/>
                      <a:r>
                        <a:rPr lang="en-US" sz="1200" b="1">
                          <a:solidFill>
                            <a:srgbClr val="0E2841"/>
                          </a:solidFill>
                          <a:latin typeface="Aptos"/>
                        </a:rPr>
                        <a:t>93.6</a:t>
                      </a:r>
                    </a:p>
                  </a:txBody>
                  <a:tcPr marL="45720" marR="45720" marT="36000" marB="36000" anchor="ctr">
                    <a:solidFill>
                      <a:srgbClr val="D3E3F3"/>
                    </a:solidFill>
                  </a:tcPr>
                </a:tc>
                <a:tc>
                  <a:txBody>
                    <a:bodyPr/>
                    <a:lstStyle/>
                    <a:p>
                      <a:pPr algn="ctr"/>
                      <a:r>
                        <a:rPr lang="en-US" sz="1200" b="1">
                          <a:solidFill>
                            <a:srgbClr val="0E2841"/>
                          </a:solidFill>
                          <a:latin typeface="Aptos"/>
                        </a:rPr>
                        <a:t>92.5</a:t>
                      </a:r>
                    </a:p>
                  </a:txBody>
                  <a:tcPr marL="45720" marR="45720" marT="36000" marB="36000" anchor="ctr">
                    <a:solidFill>
                      <a:srgbClr val="D3E3F3"/>
                    </a:solidFill>
                  </a:tcPr>
                </a:tc>
                <a:tc>
                  <a:txBody>
                    <a:bodyPr/>
                    <a:lstStyle/>
                    <a:p>
                      <a:pPr algn="ctr"/>
                      <a:r>
                        <a:rPr lang="en-US" sz="1200" b="1">
                          <a:solidFill>
                            <a:srgbClr val="0E2841"/>
                          </a:solidFill>
                          <a:latin typeface="Aptos"/>
                        </a:rPr>
                        <a:t>96.1</a:t>
                      </a:r>
                    </a:p>
                  </a:txBody>
                  <a:tcPr marL="45720" marR="45720" marT="36000" marB="36000" anchor="ctr">
                    <a:solidFill>
                      <a:srgbClr val="D3E3F3"/>
                    </a:solidFill>
                  </a:tcPr>
                </a:tc>
                <a:tc>
                  <a:txBody>
                    <a:bodyPr/>
                    <a:lstStyle/>
                    <a:p>
                      <a:pPr algn="ctr"/>
                      <a:r>
                        <a:rPr lang="en-US" sz="1200" b="1">
                          <a:solidFill>
                            <a:srgbClr val="0E2841"/>
                          </a:solidFill>
                          <a:latin typeface="Aptos"/>
                        </a:rPr>
                        <a:t>94.2</a:t>
                      </a:r>
                    </a:p>
                  </a:txBody>
                  <a:tcPr marL="45720" marR="45720" marT="36000" marB="36000" anchor="ctr">
                    <a:solidFill>
                      <a:srgbClr val="D3E3F3"/>
                    </a:solidFill>
                  </a:tcPr>
                </a:tc>
                <a:tc>
                  <a:txBody>
                    <a:bodyPr/>
                    <a:lstStyle/>
                    <a:p>
                      <a:pPr algn="ctr"/>
                      <a:r>
                        <a:rPr lang="en-US" sz="1200" b="1">
                          <a:solidFill>
                            <a:srgbClr val="0E2841"/>
                          </a:solidFill>
                          <a:latin typeface="Aptos"/>
                        </a:rPr>
                        <a:t>59.4</a:t>
                      </a:r>
                    </a:p>
                  </a:txBody>
                  <a:tcPr marL="45720" marR="45720" marT="36000" marB="36000" anchor="ctr">
                    <a:solidFill>
                      <a:srgbClr val="D3E3F3"/>
                    </a:solidFill>
                  </a:tcPr>
                </a:tc>
                <a:tc>
                  <a:txBody>
                    <a:bodyPr/>
                    <a:lstStyle/>
                    <a:p>
                      <a:pPr algn="ctr"/>
                      <a:r>
                        <a:rPr lang="en-US" sz="1200" b="1">
                          <a:solidFill>
                            <a:srgbClr val="0E2841"/>
                          </a:solidFill>
                          <a:latin typeface="Aptos"/>
                        </a:rPr>
                        <a:t>75.5</a:t>
                      </a:r>
                    </a:p>
                  </a:txBody>
                  <a:tcPr marL="45720" marR="45720" marT="36000" marB="36000" anchor="ctr">
                    <a:solidFill>
                      <a:srgbClr val="D3E3F3"/>
                    </a:solidFill>
                  </a:tcPr>
                </a:tc>
                <a:tc>
                  <a:txBody>
                    <a:bodyPr/>
                    <a:lstStyle/>
                    <a:p>
                      <a:pPr algn="ctr"/>
                      <a:r>
                        <a:rPr lang="en-US" sz="1200" b="1">
                          <a:solidFill>
                            <a:srgbClr val="0E2841"/>
                          </a:solidFill>
                          <a:latin typeface="Aptos"/>
                        </a:rPr>
                        <a:t>70.7</a:t>
                      </a:r>
                    </a:p>
                  </a:txBody>
                  <a:tcPr marL="45720" marR="45720" marT="36000" marB="36000" anchor="ctr">
                    <a:solidFill>
                      <a:srgbClr val="D3E3F3"/>
                    </a:solidFill>
                  </a:tcPr>
                </a:tc>
                <a:extLst>
                  <a:ext uri="{0D108BD9-81ED-4DB2-BD59-A6C34878D82A}">
                    <a16:rowId xmlns:a16="http://schemas.microsoft.com/office/drawing/2014/main" val="10004"/>
                  </a:ext>
                </a:extLst>
              </a:tr>
              <a:tr h="466000">
                <a:tc>
                  <a:txBody>
                    <a:bodyPr/>
                    <a:lstStyle/>
                    <a:p>
                      <a:pPr algn="l"/>
                      <a:r>
                        <a:rPr lang="en-US" sz="1200" b="1">
                          <a:solidFill>
                            <a:srgbClr val="0E2841"/>
                          </a:solidFill>
                          <a:latin typeface="Aptos"/>
                        </a:rPr>
                        <a:t>5. Weighted-ratio injection + tuning</a:t>
                      </a:r>
                    </a:p>
                  </a:txBody>
                  <a:tcPr marT="36000" marB="36000" anchor="ctr">
                    <a:solidFill>
                      <a:srgbClr val="F4F7FB"/>
                    </a:solidFill>
                  </a:tcPr>
                </a:tc>
                <a:tc>
                  <a:txBody>
                    <a:bodyPr/>
                    <a:lstStyle/>
                    <a:p>
                      <a:pPr algn="ctr"/>
                      <a:r>
                        <a:rPr lang="en-US" sz="1200">
                          <a:solidFill>
                            <a:srgbClr val="333333"/>
                          </a:solidFill>
                          <a:latin typeface="Aptos"/>
                        </a:rPr>
                        <a:t>84.0</a:t>
                      </a:r>
                    </a:p>
                  </a:txBody>
                  <a:tcPr marL="45720" marR="45720" marT="36000" marB="36000" anchor="ctr">
                    <a:solidFill>
                      <a:srgbClr val="F4F7FB"/>
                    </a:solidFill>
                  </a:tcPr>
                </a:tc>
                <a:tc>
                  <a:txBody>
                    <a:bodyPr/>
                    <a:lstStyle/>
                    <a:p>
                      <a:pPr algn="ctr"/>
                      <a:r>
                        <a:rPr lang="en-US" sz="1200">
                          <a:solidFill>
                            <a:srgbClr val="333333"/>
                          </a:solidFill>
                          <a:latin typeface="Aptos"/>
                        </a:rPr>
                        <a:t>81.0</a:t>
                      </a:r>
                    </a:p>
                  </a:txBody>
                  <a:tcPr marL="45720" marR="45720" marT="36000" marB="36000" anchor="ctr">
                    <a:solidFill>
                      <a:srgbClr val="F4F7FB"/>
                    </a:solidFill>
                  </a:tcPr>
                </a:tc>
                <a:tc>
                  <a:txBody>
                    <a:bodyPr/>
                    <a:lstStyle/>
                    <a:p>
                      <a:pPr algn="ctr"/>
                      <a:r>
                        <a:rPr lang="en-US" sz="1200">
                          <a:solidFill>
                            <a:srgbClr val="333333"/>
                          </a:solidFill>
                          <a:latin typeface="Aptos"/>
                        </a:rPr>
                        <a:t>92.2</a:t>
                      </a:r>
                    </a:p>
                  </a:txBody>
                  <a:tcPr marL="45720" marR="45720" marT="36000" marB="36000" anchor="ctr">
                    <a:solidFill>
                      <a:srgbClr val="F4F7FB"/>
                    </a:solidFill>
                  </a:tcPr>
                </a:tc>
                <a:tc>
                  <a:txBody>
                    <a:bodyPr/>
                    <a:lstStyle/>
                    <a:p>
                      <a:pPr algn="ctr"/>
                      <a:r>
                        <a:rPr lang="en-US" sz="1200">
                          <a:solidFill>
                            <a:srgbClr val="333333"/>
                          </a:solidFill>
                          <a:latin typeface="Aptos"/>
                        </a:rPr>
                        <a:t>86.2</a:t>
                      </a:r>
                    </a:p>
                  </a:txBody>
                  <a:tcPr marL="45720" marR="45720" marT="36000" marB="36000" anchor="ctr">
                    <a:solidFill>
                      <a:srgbClr val="F4F7FB"/>
                    </a:solidFill>
                  </a:tcPr>
                </a:tc>
                <a:tc>
                  <a:txBody>
                    <a:bodyPr/>
                    <a:lstStyle/>
                    <a:p>
                      <a:pPr algn="ctr"/>
                      <a:r>
                        <a:rPr lang="en-US" sz="1200" b="1">
                          <a:solidFill>
                            <a:srgbClr val="0E2841"/>
                          </a:solidFill>
                          <a:latin typeface="Aptos"/>
                        </a:rPr>
                        <a:t>62.6</a:t>
                      </a:r>
                    </a:p>
                  </a:txBody>
                  <a:tcPr marL="45720" marR="45720" marT="36000" marB="36000" anchor="ctr">
                    <a:solidFill>
                      <a:srgbClr val="F4F7FB"/>
                    </a:solidFill>
                  </a:tcPr>
                </a:tc>
                <a:tc>
                  <a:txBody>
                    <a:bodyPr/>
                    <a:lstStyle/>
                    <a:p>
                      <a:pPr algn="ctr"/>
                      <a:r>
                        <a:rPr lang="en-US" sz="1200">
                          <a:solidFill>
                            <a:srgbClr val="333333"/>
                          </a:solidFill>
                          <a:latin typeface="Aptos"/>
                        </a:rPr>
                        <a:t>70.0</a:t>
                      </a:r>
                    </a:p>
                  </a:txBody>
                  <a:tcPr marL="45720" marR="45720" marT="36000" marB="36000" anchor="ctr">
                    <a:solidFill>
                      <a:srgbClr val="F4F7FB"/>
                    </a:solidFill>
                  </a:tcPr>
                </a:tc>
                <a:tc>
                  <a:txBody>
                    <a:bodyPr/>
                    <a:lstStyle/>
                    <a:p>
                      <a:pPr algn="ctr"/>
                      <a:r>
                        <a:rPr lang="en-US" sz="1200">
                          <a:solidFill>
                            <a:srgbClr val="333333"/>
                          </a:solidFill>
                          <a:latin typeface="Aptos"/>
                        </a:rPr>
                        <a:t>64.9</a:t>
                      </a:r>
                    </a:p>
                  </a:txBody>
                  <a:tcPr marL="45720" marR="45720" marT="36000" marB="36000" anchor="ctr">
                    <a:solidFill>
                      <a:srgbClr val="F4F7FB"/>
                    </a:solidFill>
                  </a:tcPr>
                </a:tc>
                <a:extLst>
                  <a:ext uri="{0D108BD9-81ED-4DB2-BD59-A6C34878D82A}">
                    <a16:rowId xmlns:a16="http://schemas.microsoft.com/office/drawing/2014/main" val="10005"/>
                  </a:ext>
                </a:extLst>
              </a:tr>
            </a:tbl>
          </a:graphicData>
        </a:graphic>
      </p:graphicFrame>
      <p:sp>
        <p:nvSpPr>
          <p:cNvPr id="30" name="Takeaway"/>
          <p:cNvSpPr/>
          <p:nvPr/>
        </p:nvSpPr>
        <p:spPr>
          <a:xfrm>
            <a:off x="431800" y="4700000"/>
            <a:ext cx="11328400" cy="1400000"/>
          </a:xfrm>
          <a:prstGeom prst="rect">
            <a:avLst/>
          </a:prstGeom>
          <a:solidFill>
            <a:srgbClr val="F4F7FB"/>
          </a:solidFill>
          <a:ln w="12700">
            <a:solidFill>
              <a:srgbClr val="0E2841"/>
            </a:solidFill>
          </a:ln>
        </p:spPr>
        <p:txBody>
          <a:bodyPr lIns="182880" tIns="118872" rIns="182880" bIns="118872" anchor="t">
            <a:normAutofit/>
          </a:bodyPr>
          <a:lstStyle/>
          <a:p>
            <a:pPr marL="0" indent="0" algn="l">
              <a:buNone/>
            </a:pPr>
            <a:r>
              <a:rPr lang="en-US" sz="1300" dirty="0">
                <a:solidFill>
                  <a:srgbClr val="333333"/>
                </a:solidFill>
                <a:latin typeface="Aptos"/>
              </a:rPr>
              <a:t>Replay-based injection is strongest overall: binary F1 94.2 and macro span F1 75.5, fixing the recall collapse of the baseline (29.4) without the precision loss of the weighted variant.</a:t>
            </a:r>
          </a:p>
          <a:p>
            <a:pPr marL="0" indent="0" algn="l">
              <a:buNone/>
            </a:pPr>
            <a:r>
              <a:rPr lang="en-US" sz="1300" b="1" dirty="0">
                <a:solidFill>
                  <a:srgbClr val="0E2841"/>
                </a:solidFill>
                <a:latin typeface="Aptos"/>
              </a:rPr>
              <a:t>Injection only helps when rehearsed.  </a:t>
            </a:r>
            <a:r>
              <a:rPr lang="en-US" sz="1300" dirty="0">
                <a:solidFill>
                  <a:srgbClr val="333333"/>
                </a:solidFill>
                <a:latin typeface="Aptos"/>
              </a:rPr>
              <a:t>Sequential injection does not beat plain span tuning (81.7 vs 83.9 binary F1). Weighted-ratio gives the best micro character coverage (62.6) but over-predicts, costing binary precision.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137160" tIns="91440" rIns="137160" bIns="91440" anchor="t">
            <a:normAutofit lnSpcReduction="10000"/>
          </a:bodyPr>
          <a:lstStyle/>
          <a:p>
            <a:pPr marL="0" indent="0" algn="l">
              <a:buNone/>
            </a:pPr>
            <a:r>
              <a:rPr lang="en-US" sz="2800" b="1">
                <a:solidFill>
                  <a:srgbClr val="0E2841"/>
                </a:solidFill>
                <a:latin typeface="Aptos"/>
              </a:rPr>
              <a:t>Inference Cost: DeBERTa Pipeline vs. Llama-8B</a:t>
            </a:r>
          </a:p>
        </p:txBody>
      </p:sp>
      <p:sp>
        <p:nvSpPr>
          <p:cNvPr id="11" name="Rule"/>
          <p:cNvSpPr/>
          <p:nvPr/>
        </p:nvSpPr>
        <p:spPr>
          <a:xfrm>
            <a:off x="431800" y="1080000"/>
            <a:ext cx="11328400" cy="27432"/>
          </a:xfrm>
          <a:prstGeom prst="rect">
            <a:avLst/>
          </a:prstGeom>
          <a:solidFill>
            <a:srgbClr val="0E2841"/>
          </a:solidFill>
          <a:ln>
            <a:noFill/>
          </a:ln>
        </p:spPr>
        <p:txBody>
          <a:bodyPr lIns="137160" tIns="91440" rIns="137160" bIns="91440" anchor="t">
            <a:normAutofit fontScale="25000" lnSpcReduction="20000"/>
          </a:bodyPr>
          <a:lstStyle/>
          <a:p>
            <a:endParaRPr/>
          </a:p>
        </p:txBody>
      </p:sp>
      <p:graphicFrame>
        <p:nvGraphicFramePr>
          <p:cNvPr id="30" name="LatencyTable"/>
          <p:cNvGraphicFramePr>
            <a:graphicFrameLocks noGrp="1"/>
          </p:cNvGraphicFramePr>
          <p:nvPr/>
        </p:nvGraphicFramePr>
        <p:xfrm>
          <a:off x="431800" y="1780000"/>
          <a:ext cx="6700000" cy="2360000"/>
        </p:xfrm>
        <a:graphic>
          <a:graphicData uri="http://schemas.openxmlformats.org/drawingml/2006/table">
            <a:tbl>
              <a:tblPr firstRow="1" bandRow="1"/>
              <a:tblGrid>
                <a:gridCol w="110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gridCol w="1250000">
                  <a:extLst>
                    <a:ext uri="{9D8B030D-6E8A-4147-A177-3AD203B41FA5}">
                      <a16:colId xmlns:a16="http://schemas.microsoft.com/office/drawing/2014/main" val="20002"/>
                    </a:ext>
                  </a:extLst>
                </a:gridCol>
                <a:gridCol w="1500000">
                  <a:extLst>
                    <a:ext uri="{9D8B030D-6E8A-4147-A177-3AD203B41FA5}">
                      <a16:colId xmlns:a16="http://schemas.microsoft.com/office/drawing/2014/main" val="20003"/>
                    </a:ext>
                  </a:extLst>
                </a:gridCol>
                <a:gridCol w="1500000">
                  <a:extLst>
                    <a:ext uri="{9D8B030D-6E8A-4147-A177-3AD203B41FA5}">
                      <a16:colId xmlns:a16="http://schemas.microsoft.com/office/drawing/2014/main" val="20004"/>
                    </a:ext>
                  </a:extLst>
                </a:gridCol>
              </a:tblGrid>
              <a:tr h="390000">
                <a:tc>
                  <a:txBody>
                    <a:bodyPr/>
                    <a:lstStyle/>
                    <a:p>
                      <a:pPr algn="l"/>
                      <a:r>
                        <a:rPr lang="en-US" sz="1100" b="1">
                          <a:solidFill>
                            <a:srgbClr val="FFFFFF"/>
                          </a:solidFill>
                          <a:latin typeface="Aptos"/>
                        </a:rPr>
                        <a:t>Sample</a:t>
                      </a:r>
                    </a:p>
                  </a:txBody>
                  <a:tcPr anchor="ctr">
                    <a:solidFill>
                      <a:srgbClr val="0E2841"/>
                    </a:solidFill>
                  </a:tcPr>
                </a:tc>
                <a:tc>
                  <a:txBody>
                    <a:bodyPr/>
                    <a:lstStyle/>
                    <a:p>
                      <a:pPr algn="r"/>
                      <a:r>
                        <a:rPr lang="en-US" sz="1100" b="1">
                          <a:solidFill>
                            <a:srgbClr val="FFFFFF"/>
                          </a:solidFill>
                          <a:latin typeface="Aptos"/>
                        </a:rPr>
                        <a:t>Characters</a:t>
                      </a:r>
                    </a:p>
                  </a:txBody>
                  <a:tcPr anchor="ctr">
                    <a:solidFill>
                      <a:srgbClr val="0E2841"/>
                    </a:solidFill>
                  </a:tcPr>
                </a:tc>
                <a:tc>
                  <a:txBody>
                    <a:bodyPr/>
                    <a:lstStyle/>
                    <a:p>
                      <a:pPr algn="r"/>
                      <a:r>
                        <a:rPr lang="en-US" sz="1100" b="1">
                          <a:solidFill>
                            <a:srgbClr val="FFFFFF"/>
                          </a:solidFill>
                          <a:latin typeface="Aptos"/>
                        </a:rPr>
                        <a:t>Sentences</a:t>
                      </a:r>
                    </a:p>
                  </a:txBody>
                  <a:tcPr anchor="ctr">
                    <a:solidFill>
                      <a:srgbClr val="0E2841"/>
                    </a:solidFill>
                  </a:tcPr>
                </a:tc>
                <a:tc>
                  <a:txBody>
                    <a:bodyPr/>
                    <a:lstStyle/>
                    <a:p>
                      <a:pPr algn="r"/>
                      <a:r>
                        <a:rPr lang="en-US" sz="1100" b="1">
                          <a:solidFill>
                            <a:srgbClr val="FFFFFF"/>
                          </a:solidFill>
                          <a:latin typeface="Aptos"/>
                        </a:rPr>
                        <a:t>DeBERTa pipeline</a:t>
                      </a:r>
                    </a:p>
                  </a:txBody>
                  <a:tcPr anchor="ctr">
                    <a:solidFill>
                      <a:srgbClr val="2E75B6"/>
                    </a:solidFill>
                  </a:tcPr>
                </a:tc>
                <a:tc>
                  <a:txBody>
                    <a:bodyPr/>
                    <a:lstStyle/>
                    <a:p>
                      <a:pPr algn="r"/>
                      <a:r>
                        <a:rPr lang="en-US" sz="1100" b="1">
                          <a:solidFill>
                            <a:srgbClr val="FFFFFF"/>
                          </a:solidFill>
                          <a:latin typeface="Aptos"/>
                        </a:rPr>
                        <a:t>Llama-8B</a:t>
                      </a:r>
                    </a:p>
                  </a:txBody>
                  <a:tcPr anchor="ctr">
                    <a:solidFill>
                      <a:srgbClr val="7F8FA6"/>
                    </a:solidFill>
                  </a:tcPr>
                </a:tc>
                <a:extLst>
                  <a:ext uri="{0D108BD9-81ED-4DB2-BD59-A6C34878D82A}">
                    <a16:rowId xmlns:a16="http://schemas.microsoft.com/office/drawing/2014/main" val="10000"/>
                  </a:ext>
                </a:extLst>
              </a:tr>
              <a:tr h="320000">
                <a:tc>
                  <a:txBody>
                    <a:bodyPr/>
                    <a:lstStyle/>
                    <a:p>
                      <a:pPr algn="l"/>
                      <a:r>
                        <a:rPr lang="en-US" sz="1100">
                          <a:solidFill>
                            <a:srgbClr val="44546A"/>
                          </a:solidFill>
                          <a:latin typeface="Aptos"/>
                        </a:rPr>
                        <a:t>1</a:t>
                      </a:r>
                    </a:p>
                  </a:txBody>
                  <a:tcPr anchor="ctr">
                    <a:solidFill>
                      <a:srgbClr val="FFFFFF"/>
                    </a:solidFill>
                  </a:tcPr>
                </a:tc>
                <a:tc>
                  <a:txBody>
                    <a:bodyPr/>
                    <a:lstStyle/>
                    <a:p>
                      <a:pPr algn="r"/>
                      <a:r>
                        <a:rPr lang="en-US" sz="1100">
                          <a:solidFill>
                            <a:srgbClr val="44546A"/>
                          </a:solidFill>
                          <a:latin typeface="Aptos"/>
                        </a:rPr>
                        <a:t>3,750</a:t>
                      </a:r>
                    </a:p>
                  </a:txBody>
                  <a:tcPr anchor="ctr">
                    <a:solidFill>
                      <a:srgbClr val="FFFFFF"/>
                    </a:solidFill>
                  </a:tcPr>
                </a:tc>
                <a:tc>
                  <a:txBody>
                    <a:bodyPr/>
                    <a:lstStyle/>
                    <a:p>
                      <a:pPr algn="r"/>
                      <a:r>
                        <a:rPr lang="en-US" sz="1100">
                          <a:solidFill>
                            <a:srgbClr val="44546A"/>
                          </a:solidFill>
                          <a:latin typeface="Aptos"/>
                        </a:rPr>
                        <a:t>19</a:t>
                      </a:r>
                    </a:p>
                  </a:txBody>
                  <a:tcPr anchor="ctr">
                    <a:solidFill>
                      <a:srgbClr val="FFFFFF"/>
                    </a:solidFill>
                  </a:tcPr>
                </a:tc>
                <a:tc>
                  <a:txBody>
                    <a:bodyPr/>
                    <a:lstStyle/>
                    <a:p>
                      <a:pPr algn="r"/>
                      <a:r>
                        <a:rPr lang="en-US" sz="1100" b="1">
                          <a:solidFill>
                            <a:srgbClr val="2E75B6"/>
                          </a:solidFill>
                          <a:latin typeface="Aptos"/>
                        </a:rPr>
                        <a:t>240.7 ms</a:t>
                      </a:r>
                    </a:p>
                  </a:txBody>
                  <a:tcPr anchor="ctr">
                    <a:solidFill>
                      <a:srgbClr val="F2F5F9"/>
                    </a:solidFill>
                  </a:tcPr>
                </a:tc>
                <a:tc>
                  <a:txBody>
                    <a:bodyPr/>
                    <a:lstStyle/>
                    <a:p>
                      <a:pPr algn="r"/>
                      <a:r>
                        <a:rPr lang="en-US" sz="1100">
                          <a:solidFill>
                            <a:srgbClr val="44546A"/>
                          </a:solidFill>
                          <a:latin typeface="Aptos"/>
                        </a:rPr>
                        <a:t>1,368.6 ms</a:t>
                      </a:r>
                    </a:p>
                  </a:txBody>
                  <a:tcPr anchor="ctr">
                    <a:solidFill>
                      <a:srgbClr val="FFFFFF"/>
                    </a:solidFill>
                  </a:tcPr>
                </a:tc>
                <a:extLst>
                  <a:ext uri="{0D108BD9-81ED-4DB2-BD59-A6C34878D82A}">
                    <a16:rowId xmlns:a16="http://schemas.microsoft.com/office/drawing/2014/main" val="10001"/>
                  </a:ext>
                </a:extLst>
              </a:tr>
              <a:tr h="320000">
                <a:tc>
                  <a:txBody>
                    <a:bodyPr/>
                    <a:lstStyle/>
                    <a:p>
                      <a:pPr algn="l"/>
                      <a:r>
                        <a:rPr lang="en-US" sz="1100">
                          <a:solidFill>
                            <a:srgbClr val="44546A"/>
                          </a:solidFill>
                          <a:latin typeface="Aptos"/>
                        </a:rPr>
                        <a:t>2</a:t>
                      </a:r>
                    </a:p>
                  </a:txBody>
                  <a:tcPr anchor="ctr">
                    <a:solidFill>
                      <a:srgbClr val="F7F9FC"/>
                    </a:solidFill>
                  </a:tcPr>
                </a:tc>
                <a:tc>
                  <a:txBody>
                    <a:bodyPr/>
                    <a:lstStyle/>
                    <a:p>
                      <a:pPr algn="r"/>
                      <a:r>
                        <a:rPr lang="en-US" sz="1100">
                          <a:solidFill>
                            <a:srgbClr val="44546A"/>
                          </a:solidFill>
                          <a:latin typeface="Aptos"/>
                        </a:rPr>
                        <a:t>2,700</a:t>
                      </a:r>
                    </a:p>
                  </a:txBody>
                  <a:tcPr anchor="ctr">
                    <a:solidFill>
                      <a:srgbClr val="F7F9FC"/>
                    </a:solidFill>
                  </a:tcPr>
                </a:tc>
                <a:tc>
                  <a:txBody>
                    <a:bodyPr/>
                    <a:lstStyle/>
                    <a:p>
                      <a:pPr algn="r"/>
                      <a:r>
                        <a:rPr lang="en-US" sz="1100">
                          <a:solidFill>
                            <a:srgbClr val="44546A"/>
                          </a:solidFill>
                          <a:latin typeface="Aptos"/>
                        </a:rPr>
                        <a:t>16</a:t>
                      </a:r>
                    </a:p>
                  </a:txBody>
                  <a:tcPr anchor="ctr">
                    <a:solidFill>
                      <a:srgbClr val="F7F9FC"/>
                    </a:solidFill>
                  </a:tcPr>
                </a:tc>
                <a:tc>
                  <a:txBody>
                    <a:bodyPr/>
                    <a:lstStyle/>
                    <a:p>
                      <a:pPr algn="r"/>
                      <a:r>
                        <a:rPr lang="en-US" sz="1100" b="1">
                          <a:solidFill>
                            <a:srgbClr val="2E75B6"/>
                          </a:solidFill>
                          <a:latin typeface="Aptos"/>
                        </a:rPr>
                        <a:t>236.2 ms</a:t>
                      </a:r>
                    </a:p>
                  </a:txBody>
                  <a:tcPr anchor="ctr">
                    <a:solidFill>
                      <a:srgbClr val="EDF2F8"/>
                    </a:solidFill>
                  </a:tcPr>
                </a:tc>
                <a:tc>
                  <a:txBody>
                    <a:bodyPr/>
                    <a:lstStyle/>
                    <a:p>
                      <a:pPr algn="r"/>
                      <a:r>
                        <a:rPr lang="en-US" sz="1100">
                          <a:solidFill>
                            <a:srgbClr val="44546A"/>
                          </a:solidFill>
                          <a:latin typeface="Aptos"/>
                        </a:rPr>
                        <a:t>1,358.4 ms</a:t>
                      </a:r>
                    </a:p>
                  </a:txBody>
                  <a:tcPr anchor="ctr">
                    <a:solidFill>
                      <a:srgbClr val="F7F9FC"/>
                    </a:solidFill>
                  </a:tcPr>
                </a:tc>
                <a:extLst>
                  <a:ext uri="{0D108BD9-81ED-4DB2-BD59-A6C34878D82A}">
                    <a16:rowId xmlns:a16="http://schemas.microsoft.com/office/drawing/2014/main" val="10002"/>
                  </a:ext>
                </a:extLst>
              </a:tr>
              <a:tr h="320000">
                <a:tc>
                  <a:txBody>
                    <a:bodyPr/>
                    <a:lstStyle/>
                    <a:p>
                      <a:pPr algn="l"/>
                      <a:r>
                        <a:rPr lang="en-US" sz="1100">
                          <a:solidFill>
                            <a:srgbClr val="44546A"/>
                          </a:solidFill>
                          <a:latin typeface="Aptos"/>
                        </a:rPr>
                        <a:t>3</a:t>
                      </a:r>
                    </a:p>
                  </a:txBody>
                  <a:tcPr anchor="ctr">
                    <a:solidFill>
                      <a:srgbClr val="FFFFFF"/>
                    </a:solidFill>
                  </a:tcPr>
                </a:tc>
                <a:tc>
                  <a:txBody>
                    <a:bodyPr/>
                    <a:lstStyle/>
                    <a:p>
                      <a:pPr algn="r"/>
                      <a:r>
                        <a:rPr lang="en-US" sz="1100">
                          <a:solidFill>
                            <a:srgbClr val="44546A"/>
                          </a:solidFill>
                          <a:latin typeface="Aptos"/>
                        </a:rPr>
                        <a:t>3,848</a:t>
                      </a:r>
                    </a:p>
                  </a:txBody>
                  <a:tcPr anchor="ctr">
                    <a:solidFill>
                      <a:srgbClr val="FFFFFF"/>
                    </a:solidFill>
                  </a:tcPr>
                </a:tc>
                <a:tc>
                  <a:txBody>
                    <a:bodyPr/>
                    <a:lstStyle/>
                    <a:p>
                      <a:pPr algn="r"/>
                      <a:r>
                        <a:rPr lang="en-US" sz="1100">
                          <a:solidFill>
                            <a:srgbClr val="44546A"/>
                          </a:solidFill>
                          <a:latin typeface="Aptos"/>
                        </a:rPr>
                        <a:t>17</a:t>
                      </a:r>
                    </a:p>
                  </a:txBody>
                  <a:tcPr anchor="ctr">
                    <a:solidFill>
                      <a:srgbClr val="FFFFFF"/>
                    </a:solidFill>
                  </a:tcPr>
                </a:tc>
                <a:tc>
                  <a:txBody>
                    <a:bodyPr/>
                    <a:lstStyle/>
                    <a:p>
                      <a:pPr algn="r"/>
                      <a:r>
                        <a:rPr lang="en-US" sz="1100" b="1">
                          <a:solidFill>
                            <a:srgbClr val="2E75B6"/>
                          </a:solidFill>
                          <a:latin typeface="Aptos"/>
                        </a:rPr>
                        <a:t>238.3 ms</a:t>
                      </a:r>
                    </a:p>
                  </a:txBody>
                  <a:tcPr anchor="ctr">
                    <a:solidFill>
                      <a:srgbClr val="F2F5F9"/>
                    </a:solidFill>
                  </a:tcPr>
                </a:tc>
                <a:tc>
                  <a:txBody>
                    <a:bodyPr/>
                    <a:lstStyle/>
                    <a:p>
                      <a:pPr algn="r"/>
                      <a:r>
                        <a:rPr lang="en-US" sz="1100">
                          <a:solidFill>
                            <a:srgbClr val="44546A"/>
                          </a:solidFill>
                          <a:latin typeface="Aptos"/>
                        </a:rPr>
                        <a:t>1,364.7 ms</a:t>
                      </a:r>
                    </a:p>
                  </a:txBody>
                  <a:tcPr anchor="ctr">
                    <a:solidFill>
                      <a:srgbClr val="FFFFFF"/>
                    </a:solidFill>
                  </a:tcPr>
                </a:tc>
                <a:extLst>
                  <a:ext uri="{0D108BD9-81ED-4DB2-BD59-A6C34878D82A}">
                    <a16:rowId xmlns:a16="http://schemas.microsoft.com/office/drawing/2014/main" val="10003"/>
                  </a:ext>
                </a:extLst>
              </a:tr>
              <a:tr h="320000">
                <a:tc>
                  <a:txBody>
                    <a:bodyPr/>
                    <a:lstStyle/>
                    <a:p>
                      <a:pPr algn="l"/>
                      <a:r>
                        <a:rPr lang="en-US" sz="1100">
                          <a:solidFill>
                            <a:srgbClr val="44546A"/>
                          </a:solidFill>
                          <a:latin typeface="Aptos"/>
                        </a:rPr>
                        <a:t>4</a:t>
                      </a:r>
                    </a:p>
                  </a:txBody>
                  <a:tcPr anchor="ctr">
                    <a:solidFill>
                      <a:srgbClr val="F7F9FC"/>
                    </a:solidFill>
                  </a:tcPr>
                </a:tc>
                <a:tc>
                  <a:txBody>
                    <a:bodyPr/>
                    <a:lstStyle/>
                    <a:p>
                      <a:pPr algn="r"/>
                      <a:r>
                        <a:rPr lang="en-US" sz="1100">
                          <a:solidFill>
                            <a:srgbClr val="44546A"/>
                          </a:solidFill>
                          <a:latin typeface="Aptos"/>
                        </a:rPr>
                        <a:t>1,588</a:t>
                      </a:r>
                    </a:p>
                  </a:txBody>
                  <a:tcPr anchor="ctr">
                    <a:solidFill>
                      <a:srgbClr val="F7F9FC"/>
                    </a:solidFill>
                  </a:tcPr>
                </a:tc>
                <a:tc>
                  <a:txBody>
                    <a:bodyPr/>
                    <a:lstStyle/>
                    <a:p>
                      <a:pPr algn="r"/>
                      <a:r>
                        <a:rPr lang="en-US" sz="1100">
                          <a:solidFill>
                            <a:srgbClr val="44546A"/>
                          </a:solidFill>
                          <a:latin typeface="Aptos"/>
                        </a:rPr>
                        <a:t>7</a:t>
                      </a:r>
                    </a:p>
                  </a:txBody>
                  <a:tcPr anchor="ctr">
                    <a:solidFill>
                      <a:srgbClr val="F7F9FC"/>
                    </a:solidFill>
                  </a:tcPr>
                </a:tc>
                <a:tc>
                  <a:txBody>
                    <a:bodyPr/>
                    <a:lstStyle/>
                    <a:p>
                      <a:pPr algn="r"/>
                      <a:r>
                        <a:rPr lang="en-US" sz="1100" b="1">
                          <a:solidFill>
                            <a:srgbClr val="2E75B6"/>
                          </a:solidFill>
                          <a:latin typeface="Aptos"/>
                        </a:rPr>
                        <a:t>222.3 ms</a:t>
                      </a:r>
                    </a:p>
                  </a:txBody>
                  <a:tcPr anchor="ctr">
                    <a:solidFill>
                      <a:srgbClr val="EDF2F8"/>
                    </a:solidFill>
                  </a:tcPr>
                </a:tc>
                <a:tc>
                  <a:txBody>
                    <a:bodyPr/>
                    <a:lstStyle/>
                    <a:p>
                      <a:pPr algn="r"/>
                      <a:r>
                        <a:rPr lang="en-US" sz="1100">
                          <a:solidFill>
                            <a:srgbClr val="44546A"/>
                          </a:solidFill>
                          <a:latin typeface="Aptos"/>
                        </a:rPr>
                        <a:t>1,279.9 ms</a:t>
                      </a:r>
                    </a:p>
                  </a:txBody>
                  <a:tcPr anchor="ctr">
                    <a:solidFill>
                      <a:srgbClr val="F7F9FC"/>
                    </a:solidFill>
                  </a:tcPr>
                </a:tc>
                <a:extLst>
                  <a:ext uri="{0D108BD9-81ED-4DB2-BD59-A6C34878D82A}">
                    <a16:rowId xmlns:a16="http://schemas.microsoft.com/office/drawing/2014/main" val="10004"/>
                  </a:ext>
                </a:extLst>
              </a:tr>
              <a:tr h="320000">
                <a:tc>
                  <a:txBody>
                    <a:bodyPr/>
                    <a:lstStyle/>
                    <a:p>
                      <a:pPr algn="l"/>
                      <a:r>
                        <a:rPr lang="en-US" sz="1100">
                          <a:solidFill>
                            <a:srgbClr val="44546A"/>
                          </a:solidFill>
                          <a:latin typeface="Aptos"/>
                        </a:rPr>
                        <a:t>5</a:t>
                      </a:r>
                    </a:p>
                  </a:txBody>
                  <a:tcPr anchor="ctr">
                    <a:solidFill>
                      <a:srgbClr val="FFFFFF"/>
                    </a:solidFill>
                  </a:tcPr>
                </a:tc>
                <a:tc>
                  <a:txBody>
                    <a:bodyPr/>
                    <a:lstStyle/>
                    <a:p>
                      <a:pPr algn="r"/>
                      <a:r>
                        <a:rPr lang="en-US" sz="1100">
                          <a:solidFill>
                            <a:srgbClr val="44546A"/>
                          </a:solidFill>
                          <a:latin typeface="Aptos"/>
                        </a:rPr>
                        <a:t>2,935</a:t>
                      </a:r>
                    </a:p>
                  </a:txBody>
                  <a:tcPr anchor="ctr">
                    <a:solidFill>
                      <a:srgbClr val="FFFFFF"/>
                    </a:solidFill>
                  </a:tcPr>
                </a:tc>
                <a:tc>
                  <a:txBody>
                    <a:bodyPr/>
                    <a:lstStyle/>
                    <a:p>
                      <a:pPr algn="r"/>
                      <a:r>
                        <a:rPr lang="en-US" sz="1100">
                          <a:solidFill>
                            <a:srgbClr val="44546A"/>
                          </a:solidFill>
                          <a:latin typeface="Aptos"/>
                        </a:rPr>
                        <a:t>16</a:t>
                      </a:r>
                    </a:p>
                  </a:txBody>
                  <a:tcPr anchor="ctr">
                    <a:solidFill>
                      <a:srgbClr val="FFFFFF"/>
                    </a:solidFill>
                  </a:tcPr>
                </a:tc>
                <a:tc>
                  <a:txBody>
                    <a:bodyPr/>
                    <a:lstStyle/>
                    <a:p>
                      <a:pPr algn="r"/>
                      <a:r>
                        <a:rPr lang="en-US" sz="1100" b="1">
                          <a:solidFill>
                            <a:srgbClr val="2E75B6"/>
                          </a:solidFill>
                          <a:latin typeface="Aptos"/>
                        </a:rPr>
                        <a:t>229.6 ms</a:t>
                      </a:r>
                    </a:p>
                  </a:txBody>
                  <a:tcPr anchor="ctr">
                    <a:solidFill>
                      <a:srgbClr val="F2F5F9"/>
                    </a:solidFill>
                  </a:tcPr>
                </a:tc>
                <a:tc>
                  <a:txBody>
                    <a:bodyPr/>
                    <a:lstStyle/>
                    <a:p>
                      <a:pPr algn="r"/>
                      <a:r>
                        <a:rPr lang="en-US" sz="1100">
                          <a:solidFill>
                            <a:srgbClr val="44546A"/>
                          </a:solidFill>
                          <a:latin typeface="Aptos"/>
                        </a:rPr>
                        <a:t>1,352.3 ms</a:t>
                      </a:r>
                    </a:p>
                  </a:txBody>
                  <a:tcPr anchor="ctr">
                    <a:solidFill>
                      <a:srgbClr val="FFFFFF"/>
                    </a:solidFill>
                  </a:tcPr>
                </a:tc>
                <a:extLst>
                  <a:ext uri="{0D108BD9-81ED-4DB2-BD59-A6C34878D82A}">
                    <a16:rowId xmlns:a16="http://schemas.microsoft.com/office/drawing/2014/main" val="10005"/>
                  </a:ext>
                </a:extLst>
              </a:tr>
              <a:tr h="370000">
                <a:tc>
                  <a:txBody>
                    <a:bodyPr/>
                    <a:lstStyle/>
                    <a:p>
                      <a:pPr algn="l"/>
                      <a:r>
                        <a:rPr lang="en-US" sz="1100" b="1">
                          <a:solidFill>
                            <a:srgbClr val="0E2841"/>
                          </a:solidFill>
                          <a:latin typeface="Aptos"/>
                        </a:rPr>
                        <a:t>Average</a:t>
                      </a:r>
                    </a:p>
                  </a:txBody>
                  <a:tcPr anchor="ctr">
                    <a:solidFill>
                      <a:srgbClr val="DDE6F0"/>
                    </a:solidFill>
                  </a:tcPr>
                </a:tc>
                <a:tc>
                  <a:txBody>
                    <a:bodyPr/>
                    <a:lstStyle/>
                    <a:p>
                      <a:pPr algn="r"/>
                      <a:r>
                        <a:rPr lang="en-US" sz="1100" b="1">
                          <a:solidFill>
                            <a:srgbClr val="0E2841"/>
                          </a:solidFill>
                          <a:latin typeface="Aptos"/>
                        </a:rPr>
                        <a:t>2,964</a:t>
                      </a:r>
                    </a:p>
                  </a:txBody>
                  <a:tcPr anchor="ctr">
                    <a:solidFill>
                      <a:srgbClr val="DDE6F0"/>
                    </a:solidFill>
                  </a:tcPr>
                </a:tc>
                <a:tc>
                  <a:txBody>
                    <a:bodyPr/>
                    <a:lstStyle/>
                    <a:p>
                      <a:pPr algn="r"/>
                      <a:r>
                        <a:rPr lang="en-US" sz="1100" b="1">
                          <a:solidFill>
                            <a:srgbClr val="0E2841"/>
                          </a:solidFill>
                          <a:latin typeface="Aptos"/>
                        </a:rPr>
                        <a:t>15</a:t>
                      </a:r>
                    </a:p>
                  </a:txBody>
                  <a:tcPr anchor="ctr">
                    <a:solidFill>
                      <a:srgbClr val="DDE6F0"/>
                    </a:solidFill>
                  </a:tcPr>
                </a:tc>
                <a:tc>
                  <a:txBody>
                    <a:bodyPr/>
                    <a:lstStyle/>
                    <a:p>
                      <a:pPr algn="r"/>
                      <a:r>
                        <a:rPr lang="en-US" sz="1200" b="1">
                          <a:solidFill>
                            <a:srgbClr val="FFFFFF"/>
                          </a:solidFill>
                          <a:latin typeface="Aptos"/>
                        </a:rPr>
                        <a:t>233.4 ms</a:t>
                      </a:r>
                    </a:p>
                  </a:txBody>
                  <a:tcPr anchor="ctr">
                    <a:solidFill>
                      <a:srgbClr val="2E75B6"/>
                    </a:solidFill>
                  </a:tcPr>
                </a:tc>
                <a:tc>
                  <a:txBody>
                    <a:bodyPr/>
                    <a:lstStyle/>
                    <a:p>
                      <a:pPr algn="r"/>
                      <a:r>
                        <a:rPr lang="en-US" sz="1200" b="1" dirty="0">
                          <a:solidFill>
                            <a:srgbClr val="0E2841"/>
                          </a:solidFill>
                          <a:latin typeface="Aptos"/>
                        </a:rPr>
                        <a:t>1,344.8 </a:t>
                      </a:r>
                      <a:r>
                        <a:rPr lang="en-US" sz="1200" b="1" dirty="0" err="1">
                          <a:solidFill>
                            <a:srgbClr val="0E2841"/>
                          </a:solidFill>
                          <a:latin typeface="Aptos"/>
                        </a:rPr>
                        <a:t>ms</a:t>
                      </a:r>
                      <a:endParaRPr lang="en-US" sz="1200" b="1" dirty="0">
                        <a:solidFill>
                          <a:srgbClr val="0E2841"/>
                        </a:solidFill>
                        <a:latin typeface="Aptos"/>
                      </a:endParaRPr>
                    </a:p>
                  </a:txBody>
                  <a:tcPr anchor="ctr">
                    <a:solidFill>
                      <a:srgbClr val="DDE6F0"/>
                    </a:solidFill>
                  </a:tcPr>
                </a:tc>
                <a:extLst>
                  <a:ext uri="{0D108BD9-81ED-4DB2-BD59-A6C34878D82A}">
                    <a16:rowId xmlns:a16="http://schemas.microsoft.com/office/drawing/2014/main" val="10006"/>
                  </a:ext>
                </a:extLst>
              </a:tr>
            </a:tbl>
          </a:graphicData>
        </a:graphic>
      </p:graphicFrame>
      <p:sp>
        <p:nvSpPr>
          <p:cNvPr id="40" name="Head0"/>
          <p:cNvSpPr/>
          <p:nvPr/>
        </p:nvSpPr>
        <p:spPr>
          <a:xfrm>
            <a:off x="7431800" y="1780000"/>
            <a:ext cx="4328400" cy="400000"/>
          </a:xfrm>
          <a:prstGeom prst="rect">
            <a:avLst/>
          </a:prstGeom>
          <a:solidFill>
            <a:srgbClr val="1F6F6F"/>
          </a:solidFill>
          <a:ln>
            <a:noFill/>
          </a:ln>
        </p:spPr>
        <p:txBody>
          <a:bodyPr lIns="137160" tIns="45720" rIns="137160" bIns="45720" anchor="ctr">
            <a:normAutofit/>
          </a:bodyPr>
          <a:lstStyle/>
          <a:p>
            <a:pPr marL="0" indent="0" algn="l">
              <a:buNone/>
            </a:pPr>
            <a:r>
              <a:rPr lang="en-US" sz="1400" b="1">
                <a:solidFill>
                  <a:srgbClr val="FFFFFF"/>
                </a:solidFill>
                <a:latin typeface="Aptos"/>
              </a:rPr>
              <a:t>Peak GPU memory</a:t>
            </a:r>
          </a:p>
        </p:txBody>
      </p:sp>
      <p:sp>
        <p:nvSpPr>
          <p:cNvPr id="41" name="Body0"/>
          <p:cNvSpPr/>
          <p:nvPr/>
        </p:nvSpPr>
        <p:spPr>
          <a:xfrm>
            <a:off x="7431800" y="2180000"/>
            <a:ext cx="4328400" cy="780000"/>
          </a:xfrm>
          <a:prstGeom prst="rect">
            <a:avLst/>
          </a:prstGeom>
          <a:solidFill>
            <a:srgbClr val="F2F5F9"/>
          </a:solidFill>
          <a:ln>
            <a:noFill/>
          </a:ln>
        </p:spPr>
        <p:txBody>
          <a:bodyPr lIns="137160" tIns="91440" rIns="137160" bIns="91440" anchor="ctr">
            <a:normAutofit/>
          </a:bodyPr>
          <a:lstStyle/>
          <a:p>
            <a:pPr marL="0" indent="0" algn="l">
              <a:buNone/>
            </a:pPr>
            <a:r>
              <a:rPr lang="en-US" sz="1200" b="0">
                <a:solidFill>
                  <a:srgbClr val="44546A"/>
                </a:solidFill>
                <a:latin typeface="Aptos"/>
              </a:rPr>
              <a:t>DeBERTa pipeline  </a:t>
            </a:r>
            <a:r>
              <a:rPr lang="en-US" sz="1600" b="1">
                <a:solidFill>
                  <a:srgbClr val="1F6F6F"/>
                </a:solidFill>
                <a:latin typeface="Aptos"/>
              </a:rPr>
              <a:t>1.45 GiB</a:t>
            </a:r>
          </a:p>
          <a:p>
            <a:pPr marL="0" indent="0" algn="l">
              <a:buNone/>
            </a:pPr>
            <a:r>
              <a:rPr lang="en-US" sz="1200" b="0">
                <a:solidFill>
                  <a:srgbClr val="44546A"/>
                </a:solidFill>
                <a:latin typeface="Aptos"/>
              </a:rPr>
              <a:t>Llama-8B  </a:t>
            </a:r>
            <a:r>
              <a:rPr lang="en-US" sz="1600" b="1">
                <a:solidFill>
                  <a:srgbClr val="0E2841"/>
                </a:solidFill>
                <a:latin typeface="Aptos"/>
              </a:rPr>
              <a:t>15.68 GiB</a:t>
            </a:r>
          </a:p>
        </p:txBody>
      </p:sp>
      <p:sp>
        <p:nvSpPr>
          <p:cNvPr id="42" name="Head1"/>
          <p:cNvSpPr/>
          <p:nvPr/>
        </p:nvSpPr>
        <p:spPr>
          <a:xfrm>
            <a:off x="7431800" y="3060000"/>
            <a:ext cx="4328400" cy="400000"/>
          </a:xfrm>
          <a:prstGeom prst="rect">
            <a:avLst/>
          </a:prstGeom>
          <a:solidFill>
            <a:srgbClr val="2E75B6"/>
          </a:solidFill>
          <a:ln>
            <a:noFill/>
          </a:ln>
        </p:spPr>
        <p:txBody>
          <a:bodyPr lIns="137160" tIns="45720" rIns="137160" bIns="45720" anchor="ctr">
            <a:normAutofit/>
          </a:bodyPr>
          <a:lstStyle/>
          <a:p>
            <a:pPr marL="0" indent="0" algn="l">
              <a:buNone/>
            </a:pPr>
            <a:r>
              <a:rPr lang="en-US" sz="1400" b="1">
                <a:solidFill>
                  <a:srgbClr val="FFFFFF"/>
                </a:solidFill>
                <a:latin typeface="Aptos"/>
              </a:rPr>
              <a:t>Where the 233 ms goes</a:t>
            </a:r>
          </a:p>
        </p:txBody>
      </p:sp>
      <p:sp>
        <p:nvSpPr>
          <p:cNvPr id="43" name="Body1"/>
          <p:cNvSpPr/>
          <p:nvPr/>
        </p:nvSpPr>
        <p:spPr>
          <a:xfrm>
            <a:off x="7431800" y="3460000"/>
            <a:ext cx="4328400" cy="750000"/>
          </a:xfrm>
          <a:prstGeom prst="rect">
            <a:avLst/>
          </a:prstGeom>
          <a:solidFill>
            <a:srgbClr val="F2F5F9"/>
          </a:solidFill>
          <a:ln>
            <a:noFill/>
          </a:ln>
        </p:spPr>
        <p:txBody>
          <a:bodyPr lIns="137160" tIns="91440" rIns="137160" bIns="91440" anchor="ctr">
            <a:normAutofit/>
          </a:bodyPr>
          <a:lstStyle/>
          <a:p>
            <a:pPr marL="0" indent="0" algn="l">
              <a:buNone/>
            </a:pPr>
            <a:r>
              <a:rPr lang="en-US" sz="1100" b="0" dirty="0">
                <a:solidFill>
                  <a:srgbClr val="44546A"/>
                </a:solidFill>
                <a:latin typeface="Aptos"/>
              </a:rPr>
              <a:t>Sentence splitting — 0.44 </a:t>
            </a:r>
            <a:r>
              <a:rPr lang="en-US" sz="1100" b="0" dirty="0" err="1">
                <a:solidFill>
                  <a:srgbClr val="44546A"/>
                </a:solidFill>
                <a:latin typeface="Aptos"/>
              </a:rPr>
              <a:t>ms</a:t>
            </a:r>
            <a:endParaRPr lang="en-US" sz="1100" b="0" dirty="0">
              <a:solidFill>
                <a:srgbClr val="44546A"/>
              </a:solidFill>
              <a:latin typeface="Aptos"/>
            </a:endParaRPr>
          </a:p>
          <a:p>
            <a:pPr marL="0" indent="0" algn="l">
              <a:buNone/>
            </a:pPr>
            <a:r>
              <a:rPr lang="en-US" sz="1100" b="0" dirty="0" err="1">
                <a:solidFill>
                  <a:srgbClr val="44546A"/>
                </a:solidFill>
                <a:latin typeface="Aptos"/>
              </a:rPr>
              <a:t>SciNCL</a:t>
            </a:r>
            <a:r>
              <a:rPr lang="en-US" sz="1100" b="0" dirty="0">
                <a:solidFill>
                  <a:srgbClr val="44546A"/>
                </a:solidFill>
                <a:latin typeface="Aptos"/>
              </a:rPr>
              <a:t> encoding + claim retrieval — 27.36 </a:t>
            </a:r>
            <a:r>
              <a:rPr lang="en-US" sz="1100" b="0" dirty="0" err="1">
                <a:solidFill>
                  <a:srgbClr val="44546A"/>
                </a:solidFill>
                <a:latin typeface="Aptos"/>
              </a:rPr>
              <a:t>ms</a:t>
            </a:r>
            <a:endParaRPr lang="en-US" sz="1100" b="0" dirty="0">
              <a:solidFill>
                <a:srgbClr val="44546A"/>
              </a:solidFill>
              <a:latin typeface="Aptos"/>
            </a:endParaRPr>
          </a:p>
          <a:p>
            <a:pPr marL="0" indent="0" algn="l">
              <a:buNone/>
            </a:pPr>
            <a:r>
              <a:rPr lang="en-US" sz="1100" b="0" dirty="0">
                <a:solidFill>
                  <a:srgbClr val="44546A"/>
                </a:solidFill>
                <a:latin typeface="Aptos"/>
              </a:rPr>
              <a:t>Candidate prep + 10 </a:t>
            </a:r>
            <a:r>
              <a:rPr lang="en-US" sz="1100" b="0" dirty="0" err="1">
                <a:solidFill>
                  <a:srgbClr val="44546A"/>
                </a:solidFill>
                <a:latin typeface="Aptos"/>
              </a:rPr>
              <a:t>DeBERTa</a:t>
            </a:r>
            <a:r>
              <a:rPr lang="en-US" sz="1100" b="0" dirty="0">
                <a:solidFill>
                  <a:srgbClr val="44546A"/>
                </a:solidFill>
                <a:latin typeface="Aptos"/>
              </a:rPr>
              <a:t> verifications — ~210 </a:t>
            </a:r>
            <a:r>
              <a:rPr lang="en-US" sz="1100" b="0" dirty="0" err="1">
                <a:solidFill>
                  <a:srgbClr val="44546A"/>
                </a:solidFill>
                <a:latin typeface="Aptos"/>
              </a:rPr>
              <a:t>ms</a:t>
            </a:r>
            <a:endParaRPr lang="en-US" sz="1100" b="0" dirty="0">
              <a:solidFill>
                <a:srgbClr val="44546A"/>
              </a:solidFill>
              <a:latin typeface="Aptos"/>
            </a:endParaRPr>
          </a:p>
        </p:txBody>
      </p:sp>
      <p:sp>
        <p:nvSpPr>
          <p:cNvPr id="3" name="Subtitle">
            <a:extLst>
              <a:ext uri="{FF2B5EF4-FFF2-40B4-BE49-F238E27FC236}">
                <a16:creationId xmlns:a16="http://schemas.microsoft.com/office/drawing/2014/main" id="{3FF74D7A-8B0B-75A6-8828-F0E17CB8A257}"/>
              </a:ext>
            </a:extLst>
          </p:cNvPr>
          <p:cNvSpPr/>
          <p:nvPr/>
        </p:nvSpPr>
        <p:spPr>
          <a:xfrm>
            <a:off x="431800" y="4468001"/>
            <a:ext cx="11328400" cy="420000"/>
          </a:xfrm>
          <a:prstGeom prst="rect">
            <a:avLst/>
          </a:prstGeom>
          <a:solidFill>
            <a:srgbClr val="FFFFFF"/>
          </a:solidFill>
          <a:ln>
            <a:noFill/>
          </a:ln>
        </p:spPr>
        <p:txBody>
          <a:bodyPr lIns="137160" tIns="91440" rIns="137160" bIns="91440" anchor="t">
            <a:normAutofit/>
          </a:bodyPr>
          <a:lstStyle/>
          <a:p>
            <a:pPr marL="0" indent="0" algn="l">
              <a:buNone/>
            </a:pPr>
            <a:r>
              <a:rPr lang="en-US" sz="1200" b="1" dirty="0">
                <a:solidFill>
                  <a:srgbClr val="0E2841"/>
                </a:solidFill>
                <a:latin typeface="Aptos"/>
              </a:rPr>
              <a:t>Storage for embeddings: </a:t>
            </a:r>
            <a:r>
              <a:rPr lang="en-US" sz="1200" b="1" dirty="0">
                <a:solidFill>
                  <a:schemeClr val="tx1">
                    <a:lumMod val="65000"/>
                    <a:lumOff val="35000"/>
                  </a:schemeClr>
                </a:solidFill>
                <a:latin typeface="Aptos"/>
              </a:rPr>
              <a:t>752 </a:t>
            </a:r>
            <a:r>
              <a:rPr lang="en-US" sz="1200" b="1" dirty="0" err="1">
                <a:solidFill>
                  <a:schemeClr val="tx1">
                    <a:lumMod val="65000"/>
                    <a:lumOff val="35000"/>
                  </a:schemeClr>
                </a:solidFill>
                <a:latin typeface="Aptos"/>
              </a:rPr>
              <a:t>Kb</a:t>
            </a:r>
            <a:r>
              <a:rPr lang="en-US" sz="1200" b="1" dirty="0">
                <a:solidFill>
                  <a:schemeClr val="tx1">
                    <a:lumMod val="65000"/>
                    <a:lumOff val="35000"/>
                  </a:schemeClr>
                </a:solidFill>
                <a:latin typeface="Aptos"/>
              </a:rPr>
              <a:t> for approx. 200 claims</a:t>
            </a:r>
            <a:r>
              <a:rPr lang="en-US" sz="1200" b="0" dirty="0">
                <a:solidFill>
                  <a:schemeClr val="tx1">
                    <a:lumMod val="65000"/>
                    <a:lumOff val="35000"/>
                  </a:schemeClr>
                </a:solidFill>
                <a:latin typeface="Aptos"/>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p:cNvSpPr/>
          <p:nvPr/>
        </p:nvSpPr>
        <p:spPr>
          <a:xfrm>
            <a:off x="431800" y="400000"/>
            <a:ext cx="11328400" cy="600000"/>
          </a:xfrm>
          <a:prstGeom prst="rect">
            <a:avLst/>
          </a:prstGeom>
          <a:solidFill>
            <a:srgbClr val="FFFFFF"/>
          </a:solidFill>
          <a:ln>
            <a:noFill/>
          </a:ln>
        </p:spPr>
        <p:txBody>
          <a:bodyPr lIns="137160" tIns="91440" rIns="137160" bIns="91440" anchor="t">
            <a:normAutofit lnSpcReduction="10000"/>
          </a:bodyPr>
          <a:lstStyle/>
          <a:p>
            <a:pPr marL="0" indent="0" algn="l">
              <a:buNone/>
            </a:pPr>
            <a:r>
              <a:rPr lang="en-US" sz="2800" b="1">
                <a:solidFill>
                  <a:srgbClr val="0E2841"/>
                </a:solidFill>
                <a:latin typeface="Aptos"/>
              </a:rPr>
              <a:t>To-Do List</a:t>
            </a:r>
          </a:p>
        </p:txBody>
      </p:sp>
      <p:sp>
        <p:nvSpPr>
          <p:cNvPr id="11" name="Rule"/>
          <p:cNvSpPr/>
          <p:nvPr/>
        </p:nvSpPr>
        <p:spPr>
          <a:xfrm>
            <a:off x="431800" y="1080000"/>
            <a:ext cx="11328400" cy="27432"/>
          </a:xfrm>
          <a:prstGeom prst="rect">
            <a:avLst/>
          </a:prstGeom>
          <a:solidFill>
            <a:srgbClr val="0E2841"/>
          </a:solidFill>
          <a:ln>
            <a:noFill/>
          </a:ln>
        </p:spPr>
        <p:txBody>
          <a:bodyPr lIns="137160" tIns="91440" rIns="137160" bIns="91440" anchor="t">
            <a:normAutofit fontScale="25000" lnSpcReduction="20000"/>
          </a:bodyPr>
          <a:lstStyle/>
          <a:p>
            <a:endParaRPr/>
          </a:p>
        </p:txBody>
      </p:sp>
      <p:sp>
        <p:nvSpPr>
          <p:cNvPr id="20" name="Head1"/>
          <p:cNvSpPr/>
          <p:nvPr/>
        </p:nvSpPr>
        <p:spPr>
          <a:xfrm>
            <a:off x="431800" y="1780000"/>
            <a:ext cx="5544200" cy="400000"/>
          </a:xfrm>
          <a:prstGeom prst="rect">
            <a:avLst/>
          </a:prstGeom>
          <a:solidFill>
            <a:srgbClr val="0E2841"/>
          </a:solidFill>
          <a:ln>
            <a:noFill/>
          </a:ln>
        </p:spPr>
        <p:txBody>
          <a:bodyPr lIns="137160" tIns="45720" rIns="137160" bIns="45720" anchor="ctr">
            <a:normAutofit/>
          </a:bodyPr>
          <a:lstStyle/>
          <a:p>
            <a:pPr marL="0" indent="0" algn="l">
              <a:buNone/>
            </a:pPr>
            <a:r>
              <a:rPr lang="en-US" sz="1400" b="1">
                <a:solidFill>
                  <a:srgbClr val="FFFFFF"/>
                </a:solidFill>
                <a:latin typeface="Aptos"/>
              </a:rPr>
              <a:t>1  Increase the dataset size</a:t>
            </a:r>
          </a:p>
        </p:txBody>
      </p:sp>
      <p:sp>
        <p:nvSpPr>
          <p:cNvPr id="21" name="Body1"/>
          <p:cNvSpPr/>
          <p:nvPr/>
        </p:nvSpPr>
        <p:spPr>
          <a:xfrm>
            <a:off x="431800" y="2180000"/>
            <a:ext cx="5544200" cy="620000"/>
          </a:xfrm>
          <a:prstGeom prst="rect">
            <a:avLst/>
          </a:prstGeom>
          <a:solidFill>
            <a:srgbClr val="F2F5F9"/>
          </a:solidFill>
          <a:ln>
            <a:noFill/>
          </a:ln>
        </p:spPr>
        <p:txBody>
          <a:bodyPr lIns="137160" tIns="91440" rIns="137160" bIns="91440" anchor="ctr">
            <a:normAutofit/>
          </a:bodyPr>
          <a:lstStyle/>
          <a:p>
            <a:pPr marL="0" indent="0" algn="l">
              <a:buNone/>
            </a:pPr>
            <a:r>
              <a:rPr lang="en-US" sz="1200" b="0">
                <a:solidFill>
                  <a:srgbClr val="44546A"/>
                </a:solidFill>
                <a:latin typeface="Aptos"/>
              </a:rPr>
              <a:t>Extend beyond the current toy set of papers, claims and annotated paragraphs for a fair final comparison.</a:t>
            </a:r>
          </a:p>
        </p:txBody>
      </p:sp>
      <p:sp>
        <p:nvSpPr>
          <p:cNvPr id="22" name="Head2"/>
          <p:cNvSpPr/>
          <p:nvPr/>
        </p:nvSpPr>
        <p:spPr>
          <a:xfrm>
            <a:off x="6216000" y="1780000"/>
            <a:ext cx="5544200" cy="400000"/>
          </a:xfrm>
          <a:prstGeom prst="rect">
            <a:avLst/>
          </a:prstGeom>
          <a:solidFill>
            <a:srgbClr val="2E75B6"/>
          </a:solidFill>
          <a:ln>
            <a:noFill/>
          </a:ln>
        </p:spPr>
        <p:txBody>
          <a:bodyPr lIns="137160" tIns="45720" rIns="137160" bIns="45720" anchor="ctr">
            <a:normAutofit/>
          </a:bodyPr>
          <a:lstStyle/>
          <a:p>
            <a:pPr marL="0" indent="0" algn="l">
              <a:buNone/>
            </a:pPr>
            <a:r>
              <a:rPr lang="en-US" sz="1400" b="1">
                <a:solidFill>
                  <a:srgbClr val="FFFFFF"/>
                </a:solidFill>
                <a:latin typeface="Aptos"/>
              </a:rPr>
              <a:t>2  Add one more span-extraction task</a:t>
            </a:r>
          </a:p>
        </p:txBody>
      </p:sp>
      <p:sp>
        <p:nvSpPr>
          <p:cNvPr id="23" name="Body2"/>
          <p:cNvSpPr/>
          <p:nvPr/>
        </p:nvSpPr>
        <p:spPr>
          <a:xfrm>
            <a:off x="6216000" y="2180000"/>
            <a:ext cx="5544200" cy="620000"/>
          </a:xfrm>
          <a:prstGeom prst="rect">
            <a:avLst/>
          </a:prstGeom>
          <a:solidFill>
            <a:srgbClr val="F2F5F9"/>
          </a:solidFill>
          <a:ln>
            <a:noFill/>
          </a:ln>
        </p:spPr>
        <p:txBody>
          <a:bodyPr lIns="137160" tIns="91440" rIns="137160" bIns="91440" anchor="ctr">
            <a:normAutofit/>
          </a:bodyPr>
          <a:lstStyle/>
          <a:p>
            <a:pPr marL="0" indent="0" algn="l">
              <a:buNone/>
            </a:pPr>
            <a:r>
              <a:rPr lang="en-US" sz="1200" b="0" dirty="0">
                <a:solidFill>
                  <a:srgbClr val="44546A"/>
                </a:solidFill>
                <a:latin typeface="Aptos"/>
              </a:rPr>
              <a:t>Cover a second task alongside summarization and Long form QA, so the reward model is not tuned to </a:t>
            </a:r>
            <a:r>
              <a:rPr lang="en-US" sz="1200" dirty="0">
                <a:solidFill>
                  <a:srgbClr val="44546A"/>
                </a:solidFill>
                <a:latin typeface="Aptos"/>
              </a:rPr>
              <a:t>only two</a:t>
            </a:r>
            <a:r>
              <a:rPr lang="en-US" sz="1200" b="0" dirty="0">
                <a:solidFill>
                  <a:srgbClr val="44546A"/>
                </a:solidFill>
                <a:latin typeface="Aptos"/>
              </a:rPr>
              <a:t> tasks and evaluation is robust.</a:t>
            </a:r>
          </a:p>
        </p:txBody>
      </p:sp>
      <p:sp>
        <p:nvSpPr>
          <p:cNvPr id="24" name="Head3"/>
          <p:cNvSpPr/>
          <p:nvPr/>
        </p:nvSpPr>
        <p:spPr>
          <a:xfrm>
            <a:off x="431800" y="2980000"/>
            <a:ext cx="5544200" cy="400000"/>
          </a:xfrm>
          <a:prstGeom prst="rect">
            <a:avLst/>
          </a:prstGeom>
          <a:solidFill>
            <a:srgbClr val="1F6F6F"/>
          </a:solidFill>
          <a:ln>
            <a:noFill/>
          </a:ln>
        </p:spPr>
        <p:txBody>
          <a:bodyPr lIns="137160" tIns="45720" rIns="137160" bIns="45720" anchor="ctr">
            <a:normAutofit/>
          </a:bodyPr>
          <a:lstStyle/>
          <a:p>
            <a:pPr marL="0" indent="0" algn="l">
              <a:buNone/>
            </a:pPr>
            <a:r>
              <a:rPr lang="en-US" sz="1400" b="1">
                <a:solidFill>
                  <a:srgbClr val="FFFFFF"/>
                </a:solidFill>
                <a:latin typeface="Aptos"/>
              </a:rPr>
              <a:t>3  Hyperparameter tuning</a:t>
            </a:r>
          </a:p>
        </p:txBody>
      </p:sp>
      <p:sp>
        <p:nvSpPr>
          <p:cNvPr id="25" name="Body3"/>
          <p:cNvSpPr/>
          <p:nvPr/>
        </p:nvSpPr>
        <p:spPr>
          <a:xfrm>
            <a:off x="431800" y="3380000"/>
            <a:ext cx="5544200" cy="620000"/>
          </a:xfrm>
          <a:prstGeom prst="rect">
            <a:avLst/>
          </a:prstGeom>
          <a:solidFill>
            <a:srgbClr val="F2F5F9"/>
          </a:solidFill>
          <a:ln>
            <a:noFill/>
          </a:ln>
        </p:spPr>
        <p:txBody>
          <a:bodyPr lIns="137160" tIns="91440" rIns="137160" bIns="91440" anchor="ctr">
            <a:normAutofit/>
          </a:bodyPr>
          <a:lstStyle/>
          <a:p>
            <a:pPr marL="0" indent="0" algn="l">
              <a:buNone/>
            </a:pPr>
            <a:r>
              <a:rPr lang="en-US" sz="1200" b="0">
                <a:solidFill>
                  <a:srgbClr val="44546A"/>
                </a:solidFill>
                <a:latin typeface="Aptos"/>
              </a:rPr>
              <a:t>Tune both designs for better span precision and recall, and push binary detection accuracy higher.</a:t>
            </a:r>
          </a:p>
        </p:txBody>
      </p:sp>
      <p:sp>
        <p:nvSpPr>
          <p:cNvPr id="26" name="Head4"/>
          <p:cNvSpPr/>
          <p:nvPr/>
        </p:nvSpPr>
        <p:spPr>
          <a:xfrm>
            <a:off x="6216000" y="2980000"/>
            <a:ext cx="5544200" cy="400000"/>
          </a:xfrm>
          <a:prstGeom prst="rect">
            <a:avLst/>
          </a:prstGeom>
          <a:solidFill>
            <a:srgbClr val="7F8FA6"/>
          </a:solidFill>
          <a:ln>
            <a:noFill/>
          </a:ln>
        </p:spPr>
        <p:txBody>
          <a:bodyPr lIns="137160" tIns="45720" rIns="137160" bIns="45720" anchor="ctr">
            <a:normAutofit/>
          </a:bodyPr>
          <a:lstStyle/>
          <a:p>
            <a:pPr marL="0" indent="0" algn="l">
              <a:buNone/>
            </a:pPr>
            <a:r>
              <a:rPr lang="en-US" sz="1400" b="1">
                <a:solidFill>
                  <a:srgbClr val="FFFFFF"/>
                </a:solidFill>
                <a:latin typeface="Aptos"/>
              </a:rPr>
              <a:t>4  Test the reward model in the RL pipeline</a:t>
            </a:r>
          </a:p>
        </p:txBody>
      </p:sp>
      <p:sp>
        <p:nvSpPr>
          <p:cNvPr id="27" name="Body4"/>
          <p:cNvSpPr/>
          <p:nvPr/>
        </p:nvSpPr>
        <p:spPr>
          <a:xfrm>
            <a:off x="6216000" y="3380000"/>
            <a:ext cx="5544200" cy="620000"/>
          </a:xfrm>
          <a:prstGeom prst="rect">
            <a:avLst/>
          </a:prstGeom>
          <a:solidFill>
            <a:srgbClr val="F2F5F9"/>
          </a:solidFill>
          <a:ln>
            <a:noFill/>
          </a:ln>
        </p:spPr>
        <p:txBody>
          <a:bodyPr lIns="137160" tIns="91440" rIns="137160" bIns="91440" anchor="ctr">
            <a:normAutofit/>
          </a:bodyPr>
          <a:lstStyle/>
          <a:p>
            <a:pPr marL="0" indent="0" algn="l">
              <a:buNone/>
            </a:pPr>
            <a:r>
              <a:rPr lang="en-US" sz="1200" b="0">
                <a:solidFill>
                  <a:srgbClr val="44546A"/>
                </a:solidFill>
                <a:latin typeface="Aptos"/>
              </a:rPr>
              <a:t>Plug the reward model into end-to-end RL training and check that it steers generation away from retracted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4481</TotalTime>
  <Words>4974</Words>
  <Application>Microsoft Office PowerPoint</Application>
  <PresentationFormat>Widescreen</PresentationFormat>
  <Paragraphs>338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Snigdha Paul</dc:creator>
  <cp:lastModifiedBy>Snigdha Paul</cp:lastModifiedBy>
  <cp:revision>5</cp:revision>
  <dcterms:created xsi:type="dcterms:W3CDTF">2026-08-20T02:16:21Z</dcterms:created>
  <dcterms:modified xsi:type="dcterms:W3CDTF">2026-10-14T09:13:02Z</dcterms:modified>
</cp:coreProperties>
</file>