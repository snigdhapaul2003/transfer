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0450" cy="4279582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" d="100"/>
          <a:sy n="10" d="100"/>
        </p:scale>
        <p:origin x="227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48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MIA evaluation: user-supplied arXiv:2608.20960v1, Appendix J and Table 7. Direct members are targeted forget QA pairs, semantic members are complementary forget QA pairs, and non-members are unrelated external QA pairs. Min-K uses bottom 20% least-confident output tokens. RefScore = L_unlearned - L_base.</a:t>
            </a:r>
          </a:p>
          <a:p>
            <a:r>
              <a:rPr lang="en-US"/>
              <a:t>[/Sources]</a:t>
            </a:r>
          </a:p>
          <a:p>
            <a:r>
              <a:rPr lang="en-US"/>
              <a:t>[Sources]</a:t>
            </a:r>
          </a:p>
          <a:p>
            <a:r>
              <a:rPr lang="en-US"/>
              <a:t>Dataset statistics: user-provided image.png. Transcribed all columns: Papers, Claims, F1, F2, R_ext, R_int.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70480" cy="384048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443708" y="947729"/>
            <a:ext cx="17383034" cy="3232405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6000" b="1" dirty="0">
                <a:solidFill>
                  <a:srgbClr val="111111"/>
                </a:solidFill>
                <a:latin typeface="Arial"/>
              </a:rPr>
              <a:t>Can Scientific Claims Be Removed from Large Language Models? A Systematic Evaluation of Claim-Level Unlearning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4573920" y="4026300"/>
            <a:ext cx="2112264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3600" b="0" dirty="0">
                <a:solidFill>
                  <a:srgbClr val="111111"/>
                </a:solidFill>
                <a:latin typeface="Arial"/>
              </a:rPr>
              <a:t>Snigdha Paul    Manasi Patwardhan    Arman Cohan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1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083564" y="5012832"/>
            <a:ext cx="13761720" cy="786384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87E8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 dirty="0">
                <a:solidFill>
                  <a:srgbClr val="FFFFFF"/>
                </a:solidFill>
                <a:latin typeface="Arial"/>
                <a:ea typeface="DejaVu Sans"/>
                <a:cs typeface="DejaVu Sans"/>
              </a:rPr>
              <a:t>MOTIVATION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1-000D-4000-8000-000000000000}"/>
              </a:ext>
            </a:extLst>
          </p:cNvPr>
          <p:cNvSpPr>
            <a:spLocks noGrp="1"/>
          </p:cNvSpPr>
          <p:nvPr/>
        </p:nvSpPr>
        <p:spPr>
          <a:xfrm>
            <a:off x="960120" y="11640368"/>
            <a:ext cx="13761720" cy="786384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87E8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>
                <a:solidFill>
                  <a:srgbClr val="FFFFFF"/>
                </a:solidFill>
                <a:latin typeface="Arial"/>
                <a:ea typeface="DejaVu Sans"/>
                <a:cs typeface="DejaVu Sans"/>
              </a:rPr>
              <a:t>PROBLEM FORMULATION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1-0012-4000-8000-000000000000}"/>
              </a:ext>
            </a:extLst>
          </p:cNvPr>
          <p:cNvSpPr>
            <a:spLocks noGrp="1"/>
          </p:cNvSpPr>
          <p:nvPr/>
        </p:nvSpPr>
        <p:spPr>
          <a:xfrm>
            <a:off x="1003321" y="20714772"/>
            <a:ext cx="13761720" cy="786384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87E8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 dirty="0">
                <a:solidFill>
                  <a:srgbClr val="FFFFFF"/>
                </a:solidFill>
                <a:latin typeface="Arial"/>
                <a:ea typeface="DejaVu Sans"/>
                <a:cs typeface="DejaVu Sans"/>
              </a:rPr>
              <a:t>EVALUATION PROTOCOL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000001-0014-4000-8000-000000000000}"/>
              </a:ext>
            </a:extLst>
          </p:cNvPr>
          <p:cNvSpPr>
            <a:spLocks noGrp="1"/>
          </p:cNvSpPr>
          <p:nvPr/>
        </p:nvSpPr>
        <p:spPr>
          <a:xfrm>
            <a:off x="1033866" y="21960387"/>
            <a:ext cx="13761720" cy="3408015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11111"/>
                </a:solidFill>
                <a:latin typeface="Arial"/>
              </a:rPr>
              <a:t>Forget: 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exact match and ROUGE-L F1 on F₁ and F₂.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11111"/>
                </a:solidFill>
                <a:latin typeface="Arial"/>
              </a:rPr>
              <a:t>Retain: 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unrelated information from cited papers and source papers.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11111"/>
                </a:solidFill>
                <a:latin typeface="Arial"/>
              </a:rPr>
              <a:t>General utility: 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MMLU, ARC-Challenge and </a:t>
            </a:r>
            <a:r>
              <a:rPr lang="en-US" sz="3200" b="0" dirty="0" err="1">
                <a:solidFill>
                  <a:srgbClr val="111111"/>
                </a:solidFill>
                <a:latin typeface="Arial"/>
              </a:rPr>
              <a:t>HellaSwag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11111"/>
                </a:solidFill>
                <a:latin typeface="Arial"/>
              </a:rPr>
              <a:t>MIA: 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compare direct and semantic members with unrelated non-members.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3200" b="0" u="sng" dirty="0">
                <a:solidFill>
                  <a:srgbClr val="111111"/>
                </a:solidFill>
                <a:latin typeface="Arial"/>
              </a:rPr>
              <a:t>Min-K% 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(k = 20%) AUC near 0.5 indicates indistinguishability.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3200" b="0" dirty="0">
                <a:solidFill>
                  <a:srgbClr val="111111"/>
                </a:solidFill>
                <a:latin typeface="Arial"/>
              </a:rPr>
              <a:t>Larger </a:t>
            </a:r>
            <a:r>
              <a:rPr lang="en-US" sz="3200" b="0" u="sng" dirty="0" err="1">
                <a:solidFill>
                  <a:srgbClr val="111111"/>
                </a:solidFill>
                <a:latin typeface="Arial"/>
              </a:rPr>
              <a:t>RefScore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 (</a:t>
            </a:r>
            <a:r>
              <a:rPr lang="en-US" sz="3200" b="0" dirty="0" err="1">
                <a:solidFill>
                  <a:srgbClr val="111111"/>
                </a:solidFill>
                <a:latin typeface="Arial"/>
              </a:rPr>
              <a:t>L_unlearned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 − </a:t>
            </a:r>
            <a:r>
              <a:rPr lang="en-US" sz="3200" b="0" dirty="0" err="1">
                <a:solidFill>
                  <a:srgbClr val="111111"/>
                </a:solidFill>
                <a:latin typeface="Arial"/>
              </a:rPr>
              <a:t>L_base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) indicates stronger forgetting.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000001-0015-4000-8000-000000000000}"/>
              </a:ext>
            </a:extLst>
          </p:cNvPr>
          <p:cNvSpPr>
            <a:spLocks noGrp="1"/>
          </p:cNvSpPr>
          <p:nvPr/>
        </p:nvSpPr>
        <p:spPr>
          <a:xfrm>
            <a:off x="15577596" y="5032811"/>
            <a:ext cx="13761720" cy="786384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87E8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>
                <a:solidFill>
                  <a:srgbClr val="FFFFFF"/>
                </a:solidFill>
                <a:latin typeface="Arial"/>
                <a:ea typeface="DejaVu Sans"/>
                <a:cs typeface="DejaVu Sans"/>
              </a:rPr>
              <a:t>DATASET CREATION</a:t>
            </a:r>
          </a:p>
        </p:txBody>
      </p:sp>
      <p:graphicFrame>
        <p:nvGraphicFramePr>
          <p:cNvPr id="33" name="Table 32"/>
          <p:cNvGraphicFramePr/>
          <p:nvPr>
            <p:extLst>
              <p:ext uri="{D42A27DB-BD31-4B8C-83A1-F6EECF244321}">
                <p14:modId xmlns:p14="http://schemas.microsoft.com/office/powerpoint/2010/main" val="2765918157"/>
              </p:ext>
            </p:extLst>
          </p:nvPr>
        </p:nvGraphicFramePr>
        <p:xfrm>
          <a:off x="15595592" y="24857004"/>
          <a:ext cx="13761719" cy="333756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4390">
                <a:tc>
                  <a:txBody>
                    <a:bodyPr/>
                    <a:lstStyle/>
                    <a:p>
                      <a:pPr algn="l"/>
                      <a:r>
                        <a:rPr lang="en-US" sz="2700" b="1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Dataset</a:t>
                      </a:r>
                    </a:p>
                  </a:txBody>
                  <a:tcPr marL="109728" marT="91440" marB="54864" anchor="ctr">
                    <a:solidFill>
                      <a:srgbClr val="F2C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1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Papers</a:t>
                      </a:r>
                    </a:p>
                  </a:txBody>
                  <a:tcPr marL="109728" marT="91440" marB="54864" anchor="ctr">
                    <a:solidFill>
                      <a:srgbClr val="F2C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1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Claims</a:t>
                      </a:r>
                    </a:p>
                  </a:txBody>
                  <a:tcPr marL="109728" marT="91440" marB="54864" anchor="ctr">
                    <a:solidFill>
                      <a:srgbClr val="F2C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1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F₁</a:t>
                      </a:r>
                    </a:p>
                  </a:txBody>
                  <a:tcPr marL="109728" marT="91440" marB="54864" anchor="ctr">
                    <a:solidFill>
                      <a:srgbClr val="F2C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1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F₂</a:t>
                      </a:r>
                    </a:p>
                  </a:txBody>
                  <a:tcPr marL="109728" marT="91440" marB="54864" anchor="ctr">
                    <a:solidFill>
                      <a:srgbClr val="F2C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1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R</a:t>
                      </a:r>
                      <a:r>
                        <a:rPr lang="en-US" sz="2100" b="1" baseline="-25000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ext</a:t>
                      </a:r>
                    </a:p>
                  </a:txBody>
                  <a:tcPr marL="109728" marT="91440" marB="54864" anchor="ctr">
                    <a:solidFill>
                      <a:srgbClr val="F2C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1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R</a:t>
                      </a:r>
                      <a:r>
                        <a:rPr lang="en-US" sz="2100" b="1" baseline="-25000">
                          <a:solidFill>
                            <a:srgbClr val="17344F"/>
                          </a:solidFill>
                          <a:latin typeface="Arial"/>
                          <a:ea typeface="DejaVu Sans"/>
                          <a:cs typeface="DejaVu Sans"/>
                        </a:rPr>
                        <a:t>int</a:t>
                      </a:r>
                    </a:p>
                  </a:txBody>
                  <a:tcPr marL="109728" marT="91440" marB="54864" anchor="ctr">
                    <a:solidFill>
                      <a:srgbClr val="F2C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pPr algn="l"/>
                      <a:r>
                        <a:rPr lang="en-US" sz="2700" b="1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Computer science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76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170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536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536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1060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418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pPr algn="l"/>
                      <a:r>
                        <a:rPr lang="en-US" sz="2700" b="1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Medical</a:t>
                      </a:r>
                    </a:p>
                  </a:txBody>
                  <a:tcPr marL="109728" marT="91440" marB="54864" anchor="ctr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78</a:t>
                      </a:r>
                    </a:p>
                  </a:txBody>
                  <a:tcPr marL="109728" marT="91440" marB="54864" anchor="ctr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127</a:t>
                      </a:r>
                    </a:p>
                  </a:txBody>
                  <a:tcPr marL="109728" marT="91440" marB="54864" anchor="ctr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508</a:t>
                      </a:r>
                    </a:p>
                  </a:txBody>
                  <a:tcPr marL="109728" marT="91440" marB="54864" anchor="ctr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508</a:t>
                      </a:r>
                    </a:p>
                  </a:txBody>
                  <a:tcPr marL="109728" marT="91440" marB="54864" anchor="ctr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908</a:t>
                      </a:r>
                    </a:p>
                  </a:txBody>
                  <a:tcPr marL="109728" marT="91440" marB="54864" anchor="ctr"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543</a:t>
                      </a:r>
                    </a:p>
                  </a:txBody>
                  <a:tcPr marL="109728" marT="91440" marB="54864" anchor="ctr"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pPr algn="l"/>
                      <a:r>
                        <a:rPr lang="en-US" sz="2700" b="1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Retracted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91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141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390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390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884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solidFill>
                            <a:srgbClr val="111111"/>
                          </a:solidFill>
                          <a:latin typeface="Arial"/>
                          <a:ea typeface="DejaVu Sans"/>
                          <a:cs typeface="DejaVu Sans"/>
                        </a:rPr>
                        <a:t>671</a:t>
                      </a:r>
                    </a:p>
                  </a:txBody>
                  <a:tcPr marL="109728" marT="91440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00000001-0021-4000-8000-000000000000}"/>
              </a:ext>
            </a:extLst>
          </p:cNvPr>
          <p:cNvSpPr>
            <a:spLocks noGrp="1"/>
          </p:cNvSpPr>
          <p:nvPr/>
        </p:nvSpPr>
        <p:spPr>
          <a:xfrm>
            <a:off x="18774382" y="28802274"/>
            <a:ext cx="10532137" cy="784202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87E8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>
                <a:solidFill>
                  <a:srgbClr val="FFFFFF"/>
                </a:solidFill>
                <a:latin typeface="Arial"/>
                <a:ea typeface="DejaVu Sans"/>
                <a:cs typeface="DejaVu Sans"/>
              </a:rPr>
              <a:t>HUMAN VALIDATION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000001-0023-4000-8000-000000000000}"/>
              </a:ext>
            </a:extLst>
          </p:cNvPr>
          <p:cNvSpPr>
            <a:spLocks noGrp="1"/>
          </p:cNvSpPr>
          <p:nvPr/>
        </p:nvSpPr>
        <p:spPr>
          <a:xfrm>
            <a:off x="18759312" y="29787370"/>
            <a:ext cx="10394808" cy="1549612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3200" b="0" dirty="0">
                <a:solidFill>
                  <a:srgbClr val="111111"/>
                </a:solidFill>
                <a:latin typeface="Arial"/>
              </a:rPr>
              <a:t>Experts reviewed 75 claims from 50 papers. Human–LLM agreement on quality criteria reached </a:t>
            </a:r>
            <a:r>
              <a:rPr lang="en-US" sz="3200" b="0" dirty="0" err="1">
                <a:solidFill>
                  <a:srgbClr val="111111"/>
                </a:solidFill>
                <a:latin typeface="Arial"/>
              </a:rPr>
              <a:t>Gwet’s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 AC2 of 0.84–0.91.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000001-0024-4000-8000-000000000000}"/>
              </a:ext>
            </a:extLst>
          </p:cNvPr>
          <p:cNvSpPr>
            <a:spLocks noGrp="1"/>
          </p:cNvSpPr>
          <p:nvPr/>
        </p:nvSpPr>
        <p:spPr>
          <a:xfrm>
            <a:off x="999413" y="28800092"/>
            <a:ext cx="16821659" cy="797908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87E8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 dirty="0">
                <a:solidFill>
                  <a:srgbClr val="FFFFFF"/>
                </a:solidFill>
                <a:latin typeface="Arial"/>
                <a:ea typeface="DejaVu Sans"/>
                <a:cs typeface="DejaVu Sans"/>
              </a:rPr>
              <a:t>RESULTS AND DISCUSSION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000001-0037-4000-8000-000000000000}"/>
              </a:ext>
            </a:extLst>
          </p:cNvPr>
          <p:cNvSpPr>
            <a:spLocks noGrp="1"/>
          </p:cNvSpPr>
          <p:nvPr/>
        </p:nvSpPr>
        <p:spPr>
          <a:xfrm>
            <a:off x="18774382" y="34427159"/>
            <a:ext cx="10532138" cy="765388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87E8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>
                <a:solidFill>
                  <a:srgbClr val="FFFFFF"/>
                </a:solidFill>
                <a:latin typeface="Arial"/>
                <a:ea typeface="DejaVu Sans"/>
                <a:cs typeface="DejaVu Sans"/>
              </a:rPr>
              <a:t>KEY TAKEAWAYS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0"/>
            <a:ext cx="384048" cy="42795840"/>
          </a:xfrm>
          <a:prstGeom prst="rect">
            <a:avLst/>
          </a:prstGeom>
          <a:solidFill>
            <a:srgbClr val="2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9886432" y="0"/>
            <a:ext cx="384048" cy="42795840"/>
          </a:xfrm>
          <a:prstGeom prst="rect">
            <a:avLst/>
          </a:prstGeom>
          <a:solidFill>
            <a:srgbClr val="2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0" y="42411792"/>
            <a:ext cx="30270480" cy="384048"/>
          </a:xfrm>
          <a:prstGeom prst="rect">
            <a:avLst/>
          </a:prstGeom>
          <a:solidFill>
            <a:srgbClr val="2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ABDDE9B-517B-95F0-E931-99A51F567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406" y="946119"/>
            <a:ext cx="4795114" cy="12618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59D397-BE76-3191-6387-07BE4793B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2264" y="2537174"/>
            <a:ext cx="5091856" cy="81641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A66DB3E-AA91-BF97-1C0C-DF988B15D9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89" y="939391"/>
            <a:ext cx="5088407" cy="169613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FA44AD5-50E5-578F-9817-C7254C6FA5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64" y="6255639"/>
            <a:ext cx="13914116" cy="487453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E5CF48A-956B-6A73-044A-EB9CD30F4F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394" y="6231346"/>
            <a:ext cx="13914116" cy="18420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70C14F-18BA-9DC4-6C0F-88BFC50B4AF2}"/>
                  </a:ext>
                </a:extLst>
              </p:cNvPr>
              <p:cNvSpPr txBox="1"/>
              <p:nvPr/>
            </p:nvSpPr>
            <p:spPr>
              <a:xfrm>
                <a:off x="960119" y="12802673"/>
                <a:ext cx="13761719" cy="155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Given a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dataset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𝑒𝑥𝑡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𝑖𝑛𝑡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𝑒𝑥𝑡</m:t>
                            </m:r>
                          </m:sub>
                        </m:sSub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𝑖𝑛𝑡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=⊘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, an unlearning algorithm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updates the model parameters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objective is defined as -  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70C14F-18BA-9DC4-6C0F-88BFC50B4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19" y="12802673"/>
                <a:ext cx="13761719" cy="1554480"/>
              </a:xfrm>
              <a:prstGeom prst="rect">
                <a:avLst/>
              </a:prstGeom>
              <a:blipFill>
                <a:blip r:embed="rId8"/>
                <a:stretch>
                  <a:fillRect l="-1107" t="-5098" r="-1107" b="-1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E8CFA85-3336-AF38-BCF8-F89600059F93}"/>
                  </a:ext>
                </a:extLst>
              </p:cNvPr>
              <p:cNvSpPr txBox="1"/>
              <p:nvPr/>
            </p:nvSpPr>
            <p:spPr>
              <a:xfrm>
                <a:off x="3217518" y="14527726"/>
                <a:ext cx="2365127" cy="871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60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E8CFA85-3336-AF38-BCF8-F89600059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18" y="14527726"/>
                <a:ext cx="2365127" cy="871842"/>
              </a:xfrm>
              <a:prstGeom prst="rect">
                <a:avLst/>
              </a:prstGeom>
              <a:blipFill>
                <a:blip r:embed="rId9"/>
                <a:stretch>
                  <a:fillRect r="-300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Left Brace 95">
            <a:extLst>
              <a:ext uri="{FF2B5EF4-FFF2-40B4-BE49-F238E27FC236}">
                <a16:creationId xmlns:a16="http://schemas.microsoft.com/office/drawing/2014/main" id="{16F9E157-7A4B-A1AC-67EA-D501C26713E4}"/>
              </a:ext>
            </a:extLst>
          </p:cNvPr>
          <p:cNvSpPr/>
          <p:nvPr/>
        </p:nvSpPr>
        <p:spPr>
          <a:xfrm rot="16200000">
            <a:off x="5890477" y="13687456"/>
            <a:ext cx="369331" cy="388090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BB6107A-56FA-1553-542B-00692DBE1E1F}"/>
              </a:ext>
            </a:extLst>
          </p:cNvPr>
          <p:cNvSpPr txBox="1"/>
          <p:nvPr/>
        </p:nvSpPr>
        <p:spPr>
          <a:xfrm>
            <a:off x="5291483" y="15880127"/>
            <a:ext cx="1567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Forget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D2C9627-ECD7-DAEF-7165-4D1908882C0F}"/>
              </a:ext>
            </a:extLst>
          </p:cNvPr>
          <p:cNvSpPr txBox="1"/>
          <p:nvPr/>
        </p:nvSpPr>
        <p:spPr>
          <a:xfrm>
            <a:off x="9946958" y="15875030"/>
            <a:ext cx="1567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Retain</a:t>
            </a:r>
          </a:p>
        </p:txBody>
      </p:sp>
      <p:sp>
        <p:nvSpPr>
          <p:cNvPr id="104" name="Left Brace 103">
            <a:extLst>
              <a:ext uri="{FF2B5EF4-FFF2-40B4-BE49-F238E27FC236}">
                <a16:creationId xmlns:a16="http://schemas.microsoft.com/office/drawing/2014/main" id="{FA6B7FCD-0C67-9DB7-115F-55BD3C1B4A7D}"/>
              </a:ext>
            </a:extLst>
          </p:cNvPr>
          <p:cNvSpPr/>
          <p:nvPr/>
        </p:nvSpPr>
        <p:spPr>
          <a:xfrm rot="16200000">
            <a:off x="10545953" y="13684057"/>
            <a:ext cx="369331" cy="388090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D3E4974-8A97-451E-EB13-CBF505608275}"/>
                  </a:ext>
                </a:extLst>
              </p:cNvPr>
              <p:cNvSpPr txBox="1"/>
              <p:nvPr/>
            </p:nvSpPr>
            <p:spPr>
              <a:xfrm>
                <a:off x="1007361" y="16447918"/>
                <a:ext cx="1352576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QA pair and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𝜆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balances forgetting and retention loss. </a:t>
                </a: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D3E4974-8A97-451E-EB13-CBF505608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361" y="16447918"/>
                <a:ext cx="13525761" cy="584775"/>
              </a:xfrm>
              <a:prstGeom prst="rect">
                <a:avLst/>
              </a:prstGeom>
              <a:blipFill>
                <a:blip r:embed="rId10"/>
                <a:stretch>
                  <a:fillRect l="-1127"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4DDD1F6C-C823-0939-232C-A94233ABE149}"/>
              </a:ext>
            </a:extLst>
          </p:cNvPr>
          <p:cNvSpPr/>
          <p:nvPr/>
        </p:nvSpPr>
        <p:spPr>
          <a:xfrm>
            <a:off x="1007360" y="17140677"/>
            <a:ext cx="13714477" cy="2926141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E4701A0-756D-B72D-60A5-535522B44FE9}"/>
              </a:ext>
            </a:extLst>
          </p:cNvPr>
          <p:cNvSpPr txBox="1"/>
          <p:nvPr/>
        </p:nvSpPr>
        <p:spPr>
          <a:xfrm>
            <a:off x="1149953" y="17212071"/>
            <a:ext cx="9560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Objective (Validation of Claim Unlearning):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3FE1343-463D-594B-0E7C-060F899BB0FF}"/>
                  </a:ext>
                </a:extLst>
              </p:cNvPr>
              <p:cNvSpPr txBox="1"/>
              <p:nvPr/>
            </p:nvSpPr>
            <p:spPr>
              <a:xfrm>
                <a:off x="1159474" y="17714887"/>
                <a:ext cx="12779096" cy="2223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unlearned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- </a:t>
                </a:r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- Forgotten </a:t>
                </a:r>
                <a:r>
                  <a:rPr lang="en-US" sz="3200" dirty="0"/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- Measure Claim Level Forgetting </a:t>
                </a:r>
                <a:endParaRPr lang="en-US" sz="3200" b="1" dirty="0"/>
              </a:p>
              <a:p>
                <a:endParaRPr 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unlearned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- </a:t>
                </a:r>
              </a:p>
              <a:p>
                <a:r>
                  <a:rPr lang="en-US" sz="3200" dirty="0">
                    <a:cs typeface="Arial" panose="020B06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- Measure Claim Level Forgetting </a:t>
                </a:r>
                <a:r>
                  <a:rPr lang="en-US" sz="3200" dirty="0"/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- Forgotten </a:t>
                </a:r>
                <a:r>
                  <a:rPr lang="en-US" sz="3200" dirty="0"/>
                  <a:t> </a:t>
                </a: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3FE1343-463D-594B-0E7C-060F899BB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474" y="17714887"/>
                <a:ext cx="12779096" cy="2223686"/>
              </a:xfrm>
              <a:prstGeom prst="rect">
                <a:avLst/>
              </a:prstGeom>
              <a:blipFill>
                <a:blip r:embed="rId11"/>
                <a:stretch>
                  <a:fillRect l="-1192" t="-3562" b="-7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6" name="Picture 115">
            <a:extLst>
              <a:ext uri="{FF2B5EF4-FFF2-40B4-BE49-F238E27FC236}">
                <a16:creationId xmlns:a16="http://schemas.microsoft.com/office/drawing/2014/main" id="{0E2886EC-A3E9-2549-CB66-1DDB17611E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1701" y="18282004"/>
            <a:ext cx="519782" cy="485787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EE245C42-0104-4074-303D-55DAA0378E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16038" y="19326819"/>
            <a:ext cx="519782" cy="485787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BEF85642-74F7-E8F8-BB88-48061AD8B96B}"/>
              </a:ext>
            </a:extLst>
          </p:cNvPr>
          <p:cNvSpPr>
            <a:spLocks noGrp="1"/>
          </p:cNvSpPr>
          <p:nvPr/>
        </p:nvSpPr>
        <p:spPr>
          <a:xfrm>
            <a:off x="1007362" y="25772920"/>
            <a:ext cx="13761720" cy="786384"/>
          </a:xfrm>
          <a:prstGeom prst="rect">
            <a:avLst/>
          </a:prstGeom>
          <a:solidFill>
            <a:srgbClr val="245B90"/>
          </a:solidFill>
          <a:ln w="0"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200" b="1">
                <a:solidFill>
                  <a:srgbClr val="087E8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500" b="1" dirty="0">
                <a:solidFill>
                  <a:srgbClr val="FFFFFF"/>
                </a:solidFill>
                <a:latin typeface="Arial"/>
                <a:ea typeface="DejaVu Sans"/>
                <a:cs typeface="DejaVu Sans"/>
              </a:rPr>
              <a:t>ALGORITHMS USED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05D04E0-E771-EA56-F2F6-6314D4589B28}"/>
              </a:ext>
            </a:extLst>
          </p:cNvPr>
          <p:cNvSpPr>
            <a:spLocks noGrp="1"/>
          </p:cNvSpPr>
          <p:nvPr/>
        </p:nvSpPr>
        <p:spPr>
          <a:xfrm>
            <a:off x="1058448" y="26932437"/>
            <a:ext cx="13714476" cy="1306841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3200" b="0" dirty="0">
                <a:solidFill>
                  <a:srgbClr val="111111"/>
                </a:solidFill>
                <a:latin typeface="Arial"/>
              </a:rPr>
              <a:t>Gradient Difference (GD), Negative Preference Optimization (NPO), Simplified NPO (</a:t>
            </a:r>
            <a:r>
              <a:rPr lang="en-US" sz="3200" b="0" dirty="0" err="1">
                <a:solidFill>
                  <a:srgbClr val="111111"/>
                </a:solidFill>
                <a:latin typeface="Arial"/>
              </a:rPr>
              <a:t>SimNPO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), NPO with retain set (NPO+RT), </a:t>
            </a:r>
            <a:r>
              <a:rPr lang="en-US" sz="3200" b="0" dirty="0" err="1">
                <a:solidFill>
                  <a:srgbClr val="111111"/>
                </a:solidFill>
                <a:latin typeface="Arial"/>
              </a:rPr>
              <a:t>SimNPO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 with retain set (</a:t>
            </a:r>
            <a:r>
              <a:rPr lang="en-US" sz="3200" b="0" dirty="0" err="1">
                <a:solidFill>
                  <a:srgbClr val="111111"/>
                </a:solidFill>
                <a:latin typeface="Arial"/>
              </a:rPr>
              <a:t>SimNPO</a:t>
            </a:r>
            <a:r>
              <a:rPr lang="en-US" sz="3200" dirty="0" err="1">
                <a:solidFill>
                  <a:srgbClr val="111111"/>
                </a:solidFill>
                <a:latin typeface="Arial"/>
              </a:rPr>
              <a:t>+RT</a:t>
            </a:r>
            <a:r>
              <a:rPr lang="en-US" sz="3200" b="0" dirty="0">
                <a:solidFill>
                  <a:srgbClr val="111111"/>
                </a:solidFill>
                <a:latin typeface="Arial"/>
              </a:rPr>
              <a:t>). 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527577"/>
              </p:ext>
            </p:extLst>
          </p:nvPr>
        </p:nvGraphicFramePr>
        <p:xfrm>
          <a:off x="960120" y="29855160"/>
          <a:ext cx="16860947" cy="5454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2447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16121">
                <a:tc row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Forget Set 1 ↓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Arial"/>
                        </a:rPr>
                        <a:t>Forget Set 2 ↓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Retain (Ext) ↑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Retain (Int) ↑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General Benchmarks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1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R-F1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EM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R-F1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EM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R-F1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EM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R-F1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EM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MMLU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Arc-C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HellaSwag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221">
                <a:tc rowSpan="5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</a:rPr>
                        <a:t>OLMo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Base Model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97.54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94.21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dirty="0">
                          <a:solidFill>
                            <a:srgbClr val="111111"/>
                          </a:solidFill>
                          <a:latin typeface="Arial"/>
                        </a:rPr>
                        <a:t>93.92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89.17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95.40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90.75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92.44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83.49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58.75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54.35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76.02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GD (F₁)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71.70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58.20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93.51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88.24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93.66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84.15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90.53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72.00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56.44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50.08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70.13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NPO+RT (F₁)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88.81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81.52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93.67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89.55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92.44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86.13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90.66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82.05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58.28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49.91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69.89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GD (F₂)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91.65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78.35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89.60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83.58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93.27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84.52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91.02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77.03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57.54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49.57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70.93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NPO+RT (F₂)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96.14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89.92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86.78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82.27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91.47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85.18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91.60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81.81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57.39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50.51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73.02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221">
                <a:tc rowSpan="5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</a:rPr>
                        <a:t>LLaMA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Base Model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96.61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93.65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87.37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77.61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91.86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86.03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90.07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83.25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64.74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75.58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55.88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GD (F₁)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78.33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74.06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88.32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80.03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85.45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80.37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dirty="0">
                          <a:solidFill>
                            <a:srgbClr val="111111"/>
                          </a:solidFill>
                          <a:latin typeface="Arial"/>
                        </a:rPr>
                        <a:t>89.00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83.25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63.01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73.91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46.67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NPO+RT (F₁)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73.56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70.33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90.91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86.38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86.53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83.01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90.35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83.73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63.35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75.28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53.41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GD (F₂)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93.31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88.80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59.18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37.87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76.78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65.47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81.31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73.20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60.93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74.30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47.69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NPO+RT (F₂)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96.08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93.09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78.59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66.23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87.36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78.86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85.14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77.27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64.44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75.01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dirty="0">
                          <a:solidFill>
                            <a:srgbClr val="111111"/>
                          </a:solidFill>
                          <a:latin typeface="Arial"/>
                        </a:rPr>
                        <a:t>55.37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24" name="Additional claim unlearning 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527577"/>
              </p:ext>
            </p:extLst>
          </p:nvPr>
        </p:nvGraphicFramePr>
        <p:xfrm>
          <a:off x="960120" y="35981640"/>
          <a:ext cx="16860947" cy="5454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763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2447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16121">
                <a:tc row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Forget Set 1 ↓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Forget Set 2 ↓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Retain (Ext) ↑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Retain (Int) ↑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General Benchmarks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1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R-F1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EM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R-F1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EM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R-F1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EM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R-F1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EM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MMLU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Arc-C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HellaSwag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317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221">
                <a:tc rowSpan="5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</a:rPr>
                        <a:t>OLMo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Base Model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92.16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78.59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84.59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65.96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87.74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71.14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92.49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81.95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58.76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54.35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76.02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GD (F₁)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58.20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35.78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75.40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61.05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86.78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73.78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92.77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84.34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57.24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52.47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71.07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NPO+RT (F₁)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83.09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67.36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83.93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68.07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89.69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74.77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92.49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85.63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59.50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52.73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75.30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GD (F₂)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83.80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68.77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55.59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32.28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88.97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74.77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93.95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86.37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56.43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51.70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72.50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NPO+RT (F₂)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92.52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85.64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73.89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81.53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91.96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85.06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94.79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88.07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59.14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53.41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73.54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221">
                <a:tc rowSpan="5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</a:rPr>
                        <a:t>LLaMA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Base Model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86.23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71.92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76.64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56.49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80.39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63.32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90.24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82.68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64.75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75.58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55.88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GD (F₁)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70.08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55.78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73.70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dirty="0">
                          <a:solidFill>
                            <a:srgbClr val="111111"/>
                          </a:solidFill>
                          <a:latin typeface="Arial"/>
                        </a:rPr>
                        <a:t>56.14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81.61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65.96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93.81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88.21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63.87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75.39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52.99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NPO+RT (F₁)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41.70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26.66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41.70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15.43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87.18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70.15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97.83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94.47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47.29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74.97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54.18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GD (F₂)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83.32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68.77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68.34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48.77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82.94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67.62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93.90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88.39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63.10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75.29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52.82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2221">
                <a:tc vMerge="1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NPO+RT (F₂)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45.98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30.18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32.79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7.37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88.86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79.07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96.06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93.00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43.20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11111"/>
                          </a:solidFill>
                          <a:latin typeface="Arial"/>
                        </a:rPr>
                        <a:t>74.48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dirty="0">
                          <a:solidFill>
                            <a:srgbClr val="111111"/>
                          </a:solidFill>
                          <a:latin typeface="Arial"/>
                        </a:rPr>
                        <a:t>49.57</a:t>
                      </a:r>
                    </a:p>
                  </a:txBody>
                  <a:tcPr marL="22860" marR="22860" marT="0" marB="0" anchor="ctr">
                    <a:lnL w="6350">
                      <a:solidFill>
                        <a:srgbClr val="D7E3E3"/>
                      </a:solidFill>
                    </a:lnL>
                    <a:lnR w="6350">
                      <a:solidFill>
                        <a:srgbClr val="D7E3E3"/>
                      </a:solidFill>
                    </a:lnR>
                    <a:lnT w="6350">
                      <a:solidFill>
                        <a:srgbClr val="D7E3E3"/>
                      </a:solidFill>
                    </a:lnT>
                    <a:lnB w="6350">
                      <a:solidFill>
                        <a:srgbClr val="D7E3E3"/>
                      </a:solidFill>
                    </a:lnB>
                    <a:solidFill>
                      <a:srgbClr val="F1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960120" y="35440581"/>
            <a:ext cx="16860947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i="1" dirty="0">
                <a:solidFill>
                  <a:srgbClr val="17354D"/>
                </a:solidFill>
                <a:latin typeface="Arial"/>
              </a:rPr>
              <a:t>Table 1. </a:t>
            </a:r>
            <a:r>
              <a:rPr lang="en-US" sz="2100" i="1" dirty="0">
                <a:solidFill>
                  <a:srgbClr val="17354D"/>
                </a:solidFill>
                <a:latin typeface="Arial"/>
              </a:rPr>
              <a:t>LORA based</a:t>
            </a:r>
            <a:r>
              <a:rPr sz="2100" i="1" dirty="0">
                <a:solidFill>
                  <a:srgbClr val="17354D"/>
                </a:solidFill>
                <a:latin typeface="Arial"/>
              </a:rPr>
              <a:t> unlearning results for </a:t>
            </a:r>
            <a:r>
              <a:rPr sz="2100" i="1" dirty="0" err="1">
                <a:solidFill>
                  <a:srgbClr val="17354D"/>
                </a:solidFill>
                <a:latin typeface="Arial"/>
              </a:rPr>
              <a:t>OLMo</a:t>
            </a:r>
            <a:r>
              <a:rPr sz="2100" i="1" dirty="0">
                <a:solidFill>
                  <a:srgbClr val="17354D"/>
                </a:solidFill>
                <a:latin typeface="Arial"/>
              </a:rPr>
              <a:t> and </a:t>
            </a:r>
            <a:r>
              <a:rPr sz="2100" i="1" dirty="0" err="1">
                <a:solidFill>
                  <a:srgbClr val="17354D"/>
                </a:solidFill>
                <a:latin typeface="Arial"/>
              </a:rPr>
              <a:t>LLaMA</a:t>
            </a:r>
            <a:r>
              <a:rPr sz="2100" i="1" dirty="0">
                <a:solidFill>
                  <a:srgbClr val="17354D"/>
                </a:solidFill>
                <a:latin typeface="Arial"/>
              </a:rPr>
              <a:t>.</a:t>
            </a:r>
            <a:r>
              <a:rPr lang="en-US" sz="2100" i="1" dirty="0">
                <a:solidFill>
                  <a:srgbClr val="17354D"/>
                </a:solidFill>
                <a:latin typeface="Arial"/>
              </a:rPr>
              <a:t> (Only on top performing algorithms)</a:t>
            </a:r>
            <a:endParaRPr sz="2100" i="1" dirty="0">
              <a:solidFill>
                <a:srgbClr val="17354D"/>
              </a:solidFill>
              <a:latin typeface="Arial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960120" y="41567061"/>
            <a:ext cx="16860947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i="1" dirty="0">
                <a:solidFill>
                  <a:srgbClr val="17354D"/>
                </a:solidFill>
                <a:latin typeface="Arial"/>
              </a:rPr>
              <a:t>Table 2. </a:t>
            </a:r>
            <a:r>
              <a:rPr lang="en-US" sz="2100" i="1" dirty="0">
                <a:solidFill>
                  <a:srgbClr val="17354D"/>
                </a:solidFill>
                <a:latin typeface="Arial"/>
              </a:rPr>
              <a:t>Full parameter</a:t>
            </a:r>
            <a:r>
              <a:rPr sz="2100" i="1" dirty="0">
                <a:solidFill>
                  <a:srgbClr val="17354D"/>
                </a:solidFill>
                <a:latin typeface="Arial"/>
              </a:rPr>
              <a:t> unlearning results for </a:t>
            </a:r>
            <a:r>
              <a:rPr sz="2100" i="1" dirty="0" err="1">
                <a:solidFill>
                  <a:srgbClr val="17354D"/>
                </a:solidFill>
                <a:latin typeface="Arial"/>
              </a:rPr>
              <a:t>OLMo</a:t>
            </a:r>
            <a:r>
              <a:rPr sz="2100" i="1" dirty="0">
                <a:solidFill>
                  <a:srgbClr val="17354D"/>
                </a:solidFill>
                <a:latin typeface="Arial"/>
              </a:rPr>
              <a:t> and </a:t>
            </a:r>
            <a:r>
              <a:rPr sz="2100" i="1" dirty="0" err="1">
                <a:solidFill>
                  <a:srgbClr val="17354D"/>
                </a:solidFill>
                <a:latin typeface="Arial"/>
              </a:rPr>
              <a:t>LLaMA</a:t>
            </a:r>
            <a:r>
              <a:rPr sz="2100" i="1" dirty="0">
                <a:solidFill>
                  <a:srgbClr val="17354D"/>
                </a:solidFill>
                <a:latin typeface="Arial"/>
              </a:rPr>
              <a:t>.</a:t>
            </a:r>
            <a:r>
              <a:rPr lang="en-US" sz="2100" i="1" dirty="0">
                <a:solidFill>
                  <a:srgbClr val="17354D"/>
                </a:solidFill>
                <a:latin typeface="Arial"/>
              </a:rPr>
              <a:t> (Only on top performing algorithms)</a:t>
            </a:r>
            <a:endParaRPr sz="2100" i="1" dirty="0">
              <a:solidFill>
                <a:srgbClr val="17354D"/>
              </a:solidFill>
              <a:latin typeface="Arial"/>
            </a:endParaRPr>
          </a:p>
        </p:txBody>
      </p:sp>
      <p:sp>
        <p:nvSpPr>
          <p:cNvPr id="127" name="Dataset validity criteria definitions"/>
          <p:cNvSpPr txBox="1"/>
          <p:nvPr/>
        </p:nvSpPr>
        <p:spPr>
          <a:xfrm>
            <a:off x="18759312" y="31528511"/>
            <a:ext cx="10394808" cy="268833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Accuracy: </a:t>
            </a:r>
            <a:r>
              <a:rPr sz="3200" b="0">
                <a:solidFill>
                  <a:srgbClr val="111111"/>
                </a:solidFill>
                <a:latin typeface="Arial"/>
              </a:rPr>
              <a:t>Claims and answers match the source evidence.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Independence: </a:t>
            </a:r>
            <a:r>
              <a:rPr sz="3200" b="0">
                <a:solidFill>
                  <a:srgbClr val="111111"/>
                </a:solidFill>
                <a:latin typeface="Arial"/>
              </a:rPr>
              <a:t>Each item is self-contained and needs no unstated context.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Clarity: </a:t>
            </a:r>
            <a:r>
              <a:rPr sz="3200" b="0">
                <a:solidFill>
                  <a:srgbClr val="111111"/>
                </a:solidFill>
                <a:latin typeface="Arial"/>
              </a:rPr>
              <a:t>Wording is </a:t>
            </a:r>
            <a:r>
              <a:rPr lang="en-US" sz="3200" b="0">
                <a:solidFill>
                  <a:srgbClr val="111111"/>
                </a:solidFill>
                <a:latin typeface="Arial"/>
              </a:rPr>
              <a:t>clear</a:t>
            </a:r>
            <a:r>
              <a:rPr sz="3200" b="0">
                <a:solidFill>
                  <a:srgbClr val="111111"/>
                </a:solidFill>
                <a:latin typeface="Arial"/>
              </a:rPr>
              <a:t> and unambiguous.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46D3E4C-1F11-9F33-6BD7-13333E5884CB}"/>
              </a:ext>
            </a:extLst>
          </p:cNvPr>
          <p:cNvSpPr txBox="1"/>
          <p:nvPr/>
        </p:nvSpPr>
        <p:spPr>
          <a:xfrm>
            <a:off x="18721157" y="35482274"/>
            <a:ext cx="1053213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Can LLMs truly forget scientific claims?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Existing methods do not achieve true claim level forgetting, only some papers not deeply rooted in the pretraining corpus can transfer the unlearning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to the complementary forget set.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ECF8315-5E49-B243-ED1D-B2668A1B5D1E}"/>
              </a:ext>
            </a:extLst>
          </p:cNvPr>
          <p:cNvSpPr txBox="1"/>
          <p:nvPr/>
        </p:nvSpPr>
        <p:spPr>
          <a:xfrm>
            <a:off x="18774382" y="39094055"/>
            <a:ext cx="7209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else is needed for true Claim Level Unlearning?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F637AF52-4292-7808-4ED1-CBAE282D78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0752" y="39193483"/>
            <a:ext cx="2730459" cy="2730459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5511DC78-67DD-3442-9BDD-13983E48AC75}"/>
              </a:ext>
            </a:extLst>
          </p:cNvPr>
          <p:cNvSpPr txBox="1"/>
          <p:nvPr/>
        </p:nvSpPr>
        <p:spPr>
          <a:xfrm>
            <a:off x="18708494" y="41459339"/>
            <a:ext cx="7364763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i="1" dirty="0">
                <a:solidFill>
                  <a:srgbClr val="17354D"/>
                </a:solidFill>
                <a:latin typeface="Arial"/>
              </a:rPr>
              <a:t>To read the full paper scan the QR code here:</a:t>
            </a:r>
            <a:endParaRPr sz="2800" i="1" dirty="0">
              <a:solidFill>
                <a:srgbClr val="17354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</TotalTime>
  <Words>907</Words>
  <Application>Microsoft Office PowerPoint</Application>
  <PresentationFormat>Custom</PresentationFormat>
  <Paragraphs>354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ChatGPT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Snigdha Paul</dc:creator>
  <cp:lastModifiedBy>Snigdha Paul</cp:lastModifiedBy>
  <cp:revision>3</cp:revision>
  <dcterms:created xsi:type="dcterms:W3CDTF">2026-10-01T04:46:47Z</dcterms:created>
  <dcterms:modified xsi:type="dcterms:W3CDTF">2026-10-03T10:38:22Z</dcterms:modified>
</cp:coreProperties>
</file>